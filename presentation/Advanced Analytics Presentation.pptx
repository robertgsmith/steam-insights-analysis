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23"/>
  </p:notesMasterIdLst>
  <p:handoutMasterIdLst>
    <p:handoutMasterId r:id="rId24"/>
  </p:handoutMasterIdLst>
  <p:sldIdLst>
    <p:sldId id="1542" r:id="rId5"/>
    <p:sldId id="1543" r:id="rId6"/>
    <p:sldId id="1555" r:id="rId7"/>
    <p:sldId id="1564" r:id="rId8"/>
    <p:sldId id="1545" r:id="rId9"/>
    <p:sldId id="1546" r:id="rId10"/>
    <p:sldId id="1549" r:id="rId11"/>
    <p:sldId id="1548" r:id="rId12"/>
    <p:sldId id="1540" r:id="rId13"/>
    <p:sldId id="1563" r:id="rId14"/>
    <p:sldId id="1565" r:id="rId15"/>
    <p:sldId id="1558" r:id="rId16"/>
    <p:sldId id="1561" r:id="rId17"/>
    <p:sldId id="1560" r:id="rId18"/>
    <p:sldId id="1559" r:id="rId19"/>
    <p:sldId id="1562" r:id="rId20"/>
    <p:sldId id="1553" r:id="rId21"/>
    <p:sldId id="15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B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2375AE-E025-0D88-D038-D0D615B15A88}" v="172" dt="2025-08-26T10:28:26.769"/>
    <p1510:client id="{4B4EE1DC-D701-FA4E-89A4-9FC30ED1A47B}" v="2178" dt="2025-08-26T10:43:24.128"/>
    <p1510:client id="{7898F938-4900-4164-89B7-AA505AD1E7CE}" v="74" dt="2025-08-26T10:32:03.769"/>
    <p1510:client id="{FD250FE2-3895-8763-C4B5-C4ADA319D4B4}" v="1211" dt="2025-08-26T10:06:41.256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1"/>
  </p:normalViewPr>
  <p:slideViewPr>
    <p:cSldViewPr snapToGrid="0">
      <p:cViewPr>
        <p:scale>
          <a:sx n="116" d="100"/>
          <a:sy n="116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559A-7CB9-4775-E59A-507D710A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7A665-A478-F313-7A0C-ECE5FB952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CA26A-2230-B8EB-35CB-73F5C1722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6B8EF-3757-287B-CBAD-29E48FE25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6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36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A978-2F59-6DCA-2878-4A028B6A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1C066-4750-3752-BAA9-5C5CEF284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0EFA8-70F1-48EA-2474-B4A6878B1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A482B-1AE9-A34B-C850-24C69611A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1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DDED5-11D1-D802-640A-DDC1DB42A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FF4B7-FD2A-BC22-1970-154E7470F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1D4A6-23BF-B973-D88A-55008B2F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9DB9F-664A-C5E6-B076-DAD253FA6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41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0727-177E-1F7D-B292-AD88F38D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EB785-E909-869A-997D-F6A0AC207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CEF5A-F388-3B44-2CE6-2575005B9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A230D-1387-3EA3-2FD8-E15D7B8D5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97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0BD8-14D3-C6E9-C89A-45966BCF7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21365-C5B7-FC3C-CC0D-359754B71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013CE-F5FE-BEEB-6797-FAFEB0C8B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4FF64-6F2C-8D8C-61AC-AB4BE22FA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3D4D-732E-BBEC-0C10-971DAC19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87AF7-56D3-D17E-3AC9-A8714A467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DDEA1-3B39-5CC2-7CF2-349E0D087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7C6B0-18E6-F14B-A571-78427B8FC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8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8/25/25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5" Type="http://schemas.openxmlformats.org/officeDocument/2006/relationships/image" Target="../media/image3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8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F73AA-BA79-9490-0F7B-2CB5A8B5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82E1C0-74FD-2DD7-E9B7-68BE6643F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34999"/>
            <a:ext cx="12192000" cy="2794001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Most promising</a:t>
            </a:r>
            <a:br>
              <a:rPr lang="en-US"/>
            </a:br>
            <a:r>
              <a:rPr lang="en-US">
                <a:solidFill>
                  <a:schemeClr val="accent1"/>
                </a:solidFill>
              </a:rPr>
              <a:t>Game publisher Acquisition</a:t>
            </a:r>
            <a:r>
              <a:rPr lang="en-US" dirty="0">
                <a:solidFill>
                  <a:schemeClr val="accent1"/>
                </a:solidFill>
              </a:rPr>
              <a:t> Candidates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509B6-2BBA-A923-1B56-2A48B076E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90195"/>
            <a:ext cx="10311068" cy="367805"/>
          </a:xfrm>
        </p:spPr>
        <p:txBody>
          <a:bodyPr>
            <a:noAutofit/>
          </a:bodyPr>
          <a:lstStyle/>
          <a:p>
            <a:pPr algn="l"/>
            <a:r>
              <a:rPr lang="en-US" sz="1400" dirty="0">
                <a:solidFill>
                  <a:schemeClr val="accent1"/>
                </a:solidFill>
              </a:rPr>
              <a:t>Robert Smith,   </a:t>
            </a:r>
            <a:r>
              <a:rPr lang="en-US" sz="1400" dirty="0" err="1">
                <a:solidFill>
                  <a:schemeClr val="accent1"/>
                </a:solidFill>
              </a:rPr>
              <a:t>Emilien</a:t>
            </a:r>
            <a:r>
              <a:rPr lang="en-US" sz="1400" dirty="0">
                <a:solidFill>
                  <a:schemeClr val="accent1"/>
                </a:solidFill>
              </a:rPr>
              <a:t> Beaugrand ,   Andrii </a:t>
            </a:r>
            <a:r>
              <a:rPr lang="en-US" sz="1400" dirty="0" err="1">
                <a:solidFill>
                  <a:schemeClr val="accent1"/>
                </a:solidFill>
              </a:rPr>
              <a:t>Deviatkin</a:t>
            </a:r>
            <a:r>
              <a:rPr lang="en-US" sz="1400" dirty="0">
                <a:solidFill>
                  <a:schemeClr val="accent1"/>
                </a:solidFill>
              </a:rPr>
              <a:t>,   Yu Shuang Tay,   </a:t>
            </a:r>
            <a:r>
              <a:rPr lang="en-US" sz="1400" dirty="0" err="1">
                <a:solidFill>
                  <a:schemeClr val="accent1"/>
                </a:solidFill>
              </a:rPr>
              <a:t>Joar</a:t>
            </a:r>
            <a:r>
              <a:rPr lang="en-US" sz="1400" dirty="0">
                <a:solidFill>
                  <a:schemeClr val="accent1"/>
                </a:solidFill>
              </a:rPr>
              <a:t> Ericsson</a:t>
            </a:r>
          </a:p>
        </p:txBody>
      </p:sp>
      <p:pic>
        <p:nvPicPr>
          <p:cNvPr id="9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8B9FCFC6-1124-98EE-E4B9-ECE285386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54427F-9FB3-C6FF-241C-1D49ECCD9EE0}"/>
              </a:ext>
            </a:extLst>
          </p:cNvPr>
          <p:cNvSpPr txBox="1"/>
          <p:nvPr/>
        </p:nvSpPr>
        <p:spPr>
          <a:xfrm>
            <a:off x="11557971" y="6223000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+mj-lt"/>
              </a:rPr>
              <a:t>1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Graphic 5" descr="Game controller with solid fill">
            <a:extLst>
              <a:ext uri="{FF2B5EF4-FFF2-40B4-BE49-F238E27FC236}">
                <a16:creationId xmlns:a16="http://schemas.microsoft.com/office/drawing/2014/main" id="{A99CC9A8-5754-B713-3135-C8BEF1BBF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040" y="3431969"/>
            <a:ext cx="2407920" cy="24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1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2D2F9-167E-B275-2CF2-776E7EBFA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07A64712-E79C-E912-BAC0-98A1A619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257453-88DD-66A7-DC30-0BF30EEBCEE4}"/>
              </a:ext>
            </a:extLst>
          </p:cNvPr>
          <p:cNvSpPr txBox="1"/>
          <p:nvPr/>
        </p:nvSpPr>
        <p:spPr>
          <a:xfrm>
            <a:off x="420112" y="2362897"/>
            <a:ext cx="11771888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Impact: 4 Key attributes – quality, revenue, growth, engagement </a:t>
            </a:r>
            <a:r>
              <a:rPr lang="en-US" dirty="0">
                <a:solidFill>
                  <a:schemeClr val="accent1"/>
                </a:solidFill>
                <a:latin typeface="+mj-lt"/>
              </a:rPr>
              <a:t>(in order of precedence)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</a:rPr>
              <a:t>  </a:t>
            </a:r>
          </a:p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Opportunity: Increase the revenue of the company and its power on the market</a:t>
            </a:r>
          </a:p>
          <a:p>
            <a:endParaRPr lang="en-US" sz="2400" dirty="0">
              <a:solidFill>
                <a:schemeClr val="accent1"/>
              </a:solidFill>
              <a:latin typeface="+mj-lt"/>
            </a:endParaRPr>
          </a:p>
          <a:p>
            <a:r>
              <a:rPr lang="en-US" sz="2400" dirty="0">
                <a:solidFill>
                  <a:schemeClr val="accent1"/>
                </a:solidFill>
                <a:latin typeface="+mj-lt"/>
              </a:rPr>
              <a:t>Risk: Integration risks </a:t>
            </a:r>
            <a:r>
              <a:rPr lang="en-US" dirty="0">
                <a:solidFill>
                  <a:schemeClr val="accent1"/>
                </a:solidFill>
                <a:latin typeface="+mj-lt"/>
              </a:rPr>
              <a:t>(culture / governance / pipeline delivery)</a:t>
            </a:r>
            <a:r>
              <a:rPr lang="en-US" sz="2400" dirty="0">
                <a:solidFill>
                  <a:schemeClr val="accent1"/>
                </a:solidFill>
                <a:latin typeface="+mj-lt"/>
              </a:rPr>
              <a:t> which may erode value and standards  </a:t>
            </a:r>
          </a:p>
          <a:p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DC98B-F167-2474-8D9F-0463ED65AF11}"/>
              </a:ext>
            </a:extLst>
          </p:cNvPr>
          <p:cNvSpPr txBox="1"/>
          <p:nvPr/>
        </p:nvSpPr>
        <p:spPr>
          <a:xfrm>
            <a:off x="427583" y="4836052"/>
            <a:ext cx="3239289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Recommendation</a:t>
            </a:r>
            <a:r>
              <a:rPr lang="en-US" sz="2400" b="1">
                <a:solidFill>
                  <a:schemeClr val="accent1"/>
                </a:solidFill>
                <a:latin typeface="+mj-lt"/>
              </a:rPr>
              <a:t>:</a:t>
            </a:r>
            <a:endParaRPr lang="en-US" sz="2400" b="1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2B49E-8450-24B8-D7CB-A88C93A25FED}"/>
              </a:ext>
            </a:extLst>
          </p:cNvPr>
          <p:cNvSpPr txBox="1"/>
          <p:nvPr/>
        </p:nvSpPr>
        <p:spPr>
          <a:xfrm>
            <a:off x="11557971" y="6223000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+mj-lt"/>
              </a:rPr>
              <a:t>2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8" name="Image 6">
            <a:extLst>
              <a:ext uri="{FF2B5EF4-FFF2-40B4-BE49-F238E27FC236}">
                <a16:creationId xmlns:a16="http://schemas.microsoft.com/office/drawing/2014/main" id="{98ACF407-4F16-911D-2542-98FF2CA5E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529" y="4507972"/>
            <a:ext cx="2680405" cy="483304"/>
          </a:xfrm>
          <a:prstGeom prst="rect">
            <a:avLst/>
          </a:prstGeom>
        </p:spPr>
      </p:pic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ADFFC334-5D9D-13A3-19BA-2DBEDC850BA4}"/>
              </a:ext>
            </a:extLst>
          </p:cNvPr>
          <p:cNvSpPr/>
          <p:nvPr/>
        </p:nvSpPr>
        <p:spPr>
          <a:xfrm>
            <a:off x="1024056" y="1492688"/>
            <a:ext cx="10472594" cy="736118"/>
          </a:xfrm>
          <a:prstGeom prst="roundRect">
            <a:avLst>
              <a:gd name="adj" fmla="val 3787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accent1"/>
                </a:solidFill>
                <a:latin typeface="+mj-lt"/>
              </a:rPr>
              <a:t>Publisher acquisition accelerates growth, creates synergies while enhancing sustainable long-term value to shareholders. </a:t>
            </a:r>
            <a:r>
              <a:rPr lang="en-US" sz="2400">
                <a:solidFill>
                  <a:schemeClr val="accent1"/>
                </a:solidFill>
                <a:latin typeface="+mj-lt"/>
              </a:rPr>
              <a:t> 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AB2ACE-A2A7-C9C0-CB3F-7163E6FFB649}"/>
              </a:ext>
            </a:extLst>
          </p:cNvPr>
          <p:cNvGrpSpPr/>
          <p:nvPr/>
        </p:nvGrpSpPr>
        <p:grpSpPr>
          <a:xfrm>
            <a:off x="4254770" y="4388948"/>
            <a:ext cx="3518333" cy="2123658"/>
            <a:chOff x="3276600" y="4250832"/>
            <a:chExt cx="3518333" cy="2123658"/>
          </a:xfrm>
        </p:grpSpPr>
        <p:pic>
          <p:nvPicPr>
            <p:cNvPr id="14" name="Image 7" descr="Une image contenant Police, Graphique, rouge, logo&#10;&#10;Le contenu généré par l’IA peut être incorrect.">
              <a:extLst>
                <a:ext uri="{FF2B5EF4-FFF2-40B4-BE49-F238E27FC236}">
                  <a16:creationId xmlns:a16="http://schemas.microsoft.com/office/drawing/2014/main" id="{689A6D5A-CA59-1B3E-4B35-A01968D09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6102" y="4948968"/>
              <a:ext cx="2669116" cy="534105"/>
            </a:xfrm>
            <a:prstGeom prst="rect">
              <a:avLst/>
            </a:prstGeom>
          </p:spPr>
        </p:pic>
        <p:pic>
          <p:nvPicPr>
            <p:cNvPr id="16" name="Image 8">
              <a:extLst>
                <a:ext uri="{FF2B5EF4-FFF2-40B4-BE49-F238E27FC236}">
                  <a16:creationId xmlns:a16="http://schemas.microsoft.com/office/drawing/2014/main" id="{7AE144A7-31F6-9C6C-348B-8CAEE893B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97276" y="5565923"/>
              <a:ext cx="2897657" cy="66206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566FA39-C4C0-908F-64AF-96277841EC51}"/>
                </a:ext>
              </a:extLst>
            </p:cNvPr>
            <p:cNvSpPr txBox="1"/>
            <p:nvPr/>
          </p:nvSpPr>
          <p:spPr>
            <a:xfrm>
              <a:off x="3276600" y="4250832"/>
              <a:ext cx="652061" cy="21236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GB" sz="4400" b="1">
                  <a:solidFill>
                    <a:schemeClr val="accent1"/>
                  </a:solidFill>
                  <a:latin typeface="Aptos"/>
                </a:rPr>
                <a:t>1.</a:t>
              </a:r>
            </a:p>
            <a:p>
              <a:r>
                <a:rPr lang="en-GB" sz="4400" b="1">
                  <a:solidFill>
                    <a:schemeClr val="accent1"/>
                  </a:solidFill>
                  <a:latin typeface="Aptos"/>
                </a:rPr>
                <a:t>2.</a:t>
              </a:r>
            </a:p>
            <a:p>
              <a:r>
                <a:rPr lang="en-GB" sz="4400" b="1">
                  <a:solidFill>
                    <a:schemeClr val="accent1"/>
                  </a:solidFill>
                  <a:latin typeface="Aptos"/>
                </a:rPr>
                <a:t>3.</a:t>
              </a:r>
            </a:p>
          </p:txBody>
        </p:sp>
      </p:grpSp>
      <p:sp>
        <p:nvSpPr>
          <p:cNvPr id="13" name="ZoneTexte 9">
            <a:extLst>
              <a:ext uri="{FF2B5EF4-FFF2-40B4-BE49-F238E27FC236}">
                <a16:creationId xmlns:a16="http://schemas.microsoft.com/office/drawing/2014/main" id="{34629E83-A880-A91A-8250-8219D5A95F58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dirty="0">
                <a:solidFill>
                  <a:schemeClr val="accent4"/>
                </a:solidFill>
              </a:rPr>
              <a:t>EXEUTIVE SUMMARY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16C9B4-FBC3-552F-1AA2-5D005943E029}"/>
              </a:ext>
            </a:extLst>
          </p:cNvPr>
          <p:cNvSpPr txBox="1"/>
          <p:nvPr/>
        </p:nvSpPr>
        <p:spPr>
          <a:xfrm>
            <a:off x="0" y="542891"/>
            <a:ext cx="1062264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Strategic expansion: acquiring gaming publishers</a:t>
            </a:r>
            <a:endParaRPr lang="en-US" sz="3600" b="1" err="1">
              <a:solidFill>
                <a:schemeClr val="accent1">
                  <a:lumMod val="90000"/>
                  <a:lumOff val="10000"/>
                </a:schemeClr>
              </a:solidFill>
              <a:latin typeface="Aptos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E6E1707-5347-2130-4E53-1E8B0377DCD2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597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88B2D-85D2-79CE-78D4-60CA9F46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BC4BB5-7FDB-749D-37FF-19111E67FA7C}"/>
              </a:ext>
            </a:extLst>
          </p:cNvPr>
          <p:cNvSpPr/>
          <p:nvPr/>
        </p:nvSpPr>
        <p:spPr>
          <a:xfrm>
            <a:off x="6227826" y="1838178"/>
            <a:ext cx="5780748" cy="3979806"/>
          </a:xfrm>
          <a:prstGeom prst="roundRect">
            <a:avLst>
              <a:gd name="adj" fmla="val 1488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ZoneTexte 9">
            <a:extLst>
              <a:ext uri="{FF2B5EF4-FFF2-40B4-BE49-F238E27FC236}">
                <a16:creationId xmlns:a16="http://schemas.microsoft.com/office/drawing/2014/main" id="{16A6DEDD-A678-E714-4A87-285051A0D8FD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cap="all" dirty="0">
                <a:solidFill>
                  <a:schemeClr val="accent4"/>
                </a:solidFill>
                <a:latin typeface="Aptos"/>
              </a:rPr>
              <a:t>Business context</a:t>
            </a:r>
            <a:endParaRPr lang="fr-FR" sz="2400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2493C-C8E2-CACF-5430-83E5BBCB31C1}"/>
              </a:ext>
            </a:extLst>
          </p:cNvPr>
          <p:cNvSpPr txBox="1"/>
          <p:nvPr/>
        </p:nvSpPr>
        <p:spPr>
          <a:xfrm>
            <a:off x="435344" y="2261123"/>
            <a:ext cx="456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endParaRPr lang="en-US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1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135DBFDC-A672-A093-3931-D13469C85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5FE715-0F32-FAAE-C8A7-C3794A3E0A8E}"/>
              </a:ext>
            </a:extLst>
          </p:cNvPr>
          <p:cNvSpPr txBox="1"/>
          <p:nvPr/>
        </p:nvSpPr>
        <p:spPr>
          <a:xfrm>
            <a:off x="6320505" y="1839157"/>
            <a:ext cx="5595733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5">
                    <a:lumMod val="50000"/>
                  </a:schemeClr>
                </a:solidFill>
                <a:latin typeface="Aptos"/>
              </a:rPr>
              <a:t>Industry Landscape</a:t>
            </a:r>
            <a:endParaRPr lang="en-US" sz="2400">
              <a:solidFill>
                <a:schemeClr val="accent5">
                  <a:lumMod val="50000"/>
                </a:schemeClr>
              </a:solidFill>
              <a:latin typeface="Aptos"/>
            </a:endParaRPr>
          </a:p>
          <a:p>
            <a:pPr algn="ctr"/>
            <a:r>
              <a:rPr lang="en-US" sz="2000" b="1" i="1">
                <a:solidFill>
                  <a:schemeClr val="accent5">
                    <a:lumMod val="50000"/>
                  </a:schemeClr>
                </a:solidFill>
                <a:latin typeface="Aptos"/>
              </a:rPr>
              <a:t>Competitor Behavior</a:t>
            </a:r>
            <a:endParaRPr lang="en-US" sz="2000" i="1">
              <a:solidFill>
                <a:schemeClr val="accent5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BB3CE-DB9C-2169-3D22-02BDDBDEA79F}"/>
              </a:ext>
            </a:extLst>
          </p:cNvPr>
          <p:cNvSpPr txBox="1"/>
          <p:nvPr/>
        </p:nvSpPr>
        <p:spPr>
          <a:xfrm>
            <a:off x="11545922" y="6223389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+mj-lt"/>
              </a:rPr>
              <a:t>3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287706-65C0-BB5C-C647-A8A3DA57A8F0}"/>
              </a:ext>
            </a:extLst>
          </p:cNvPr>
          <p:cNvSpPr/>
          <p:nvPr/>
        </p:nvSpPr>
        <p:spPr>
          <a:xfrm>
            <a:off x="6774997" y="3427882"/>
            <a:ext cx="2267918" cy="2130277"/>
          </a:xfrm>
          <a:prstGeom prst="roundRect">
            <a:avLst>
              <a:gd name="adj" fmla="val 792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- Acquired 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10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% of </a:t>
            </a:r>
            <a:r>
              <a:rPr lang="en-GB" b="1">
                <a:solidFill>
                  <a:schemeClr val="accent5">
                    <a:lumMod val="50000"/>
                  </a:schemeClr>
                </a:solidFill>
                <a:latin typeface="Aptos"/>
              </a:rPr>
              <a:t>Kadokawa</a:t>
            </a:r>
            <a:r>
              <a:rPr lang="en-GB">
                <a:solidFill>
                  <a:schemeClr val="accent5">
                    <a:lumMod val="50000"/>
                  </a:schemeClr>
                </a:solidFill>
                <a:latin typeface="Aptos"/>
              </a:rPr>
              <a:t>’s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shares ($ 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320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m)</a:t>
            </a:r>
          </a:p>
          <a:p>
            <a:endParaRPr lang="en-GB" sz="800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- Acquisition of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Insomniac Games 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for ($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229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 m)</a:t>
            </a:r>
            <a:endParaRPr lang="en-DE" dirty="0">
              <a:solidFill>
                <a:schemeClr val="accent5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995855-0624-F74A-68D6-3D932943A9A5}"/>
              </a:ext>
            </a:extLst>
          </p:cNvPr>
          <p:cNvSpPr/>
          <p:nvPr/>
        </p:nvSpPr>
        <p:spPr>
          <a:xfrm>
            <a:off x="9336033" y="3384478"/>
            <a:ext cx="2497874" cy="2217086"/>
          </a:xfrm>
          <a:prstGeom prst="roundRect">
            <a:avLst>
              <a:gd name="adj" fmla="val 792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- Acquired 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15.8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% of 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Arrowhead Game Studios 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shares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($ </a:t>
            </a:r>
            <a:r>
              <a:rPr lang="en-GB" b="1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83</a:t>
            </a:r>
            <a:r>
              <a:rPr lang="en-GB" dirty="0">
                <a:solidFill>
                  <a:schemeClr val="accent5">
                    <a:lumMod val="50000"/>
                  </a:schemeClr>
                </a:solidFill>
                <a:latin typeface="Aptos"/>
              </a:rPr>
              <a:t> m)</a:t>
            </a:r>
          </a:p>
          <a:p>
            <a:endParaRPr lang="en-GB" sz="800">
              <a:solidFill>
                <a:schemeClr val="accent5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>
                <a:solidFill>
                  <a:schemeClr val="accent5">
                    <a:lumMod val="50000"/>
                  </a:schemeClr>
                </a:solidFill>
                <a:latin typeface="Aptos"/>
              </a:rPr>
              <a:t>- Invested $</a:t>
            </a:r>
            <a:r>
              <a:rPr lang="en-GB" b="1">
                <a:solidFill>
                  <a:schemeClr val="accent5">
                    <a:lumMod val="50000"/>
                  </a:schemeClr>
                </a:solidFill>
                <a:latin typeface="Aptos"/>
              </a:rPr>
              <a:t>1.25</a:t>
            </a:r>
            <a:r>
              <a:rPr lang="en-GB">
                <a:solidFill>
                  <a:schemeClr val="accent5">
                    <a:lumMod val="50000"/>
                  </a:schemeClr>
                </a:solidFill>
                <a:latin typeface="Aptos"/>
              </a:rPr>
              <a:t> b in </a:t>
            </a:r>
            <a:r>
              <a:rPr lang="en-GB" b="1">
                <a:solidFill>
                  <a:schemeClr val="accent5">
                    <a:lumMod val="50000"/>
                  </a:schemeClr>
                </a:solidFill>
                <a:latin typeface="Aptos"/>
              </a:rPr>
              <a:t>Ubisoft</a:t>
            </a:r>
            <a:r>
              <a:rPr lang="en-GB">
                <a:solidFill>
                  <a:schemeClr val="accent5">
                    <a:lumMod val="50000"/>
                  </a:schemeClr>
                </a:solidFill>
                <a:latin typeface="Aptos"/>
              </a:rPr>
              <a:t> subsidiary </a:t>
            </a:r>
            <a:endParaRPr lang="en-DE">
              <a:solidFill>
                <a:schemeClr val="accent5">
                  <a:lumMod val="50000"/>
                </a:schemeClr>
              </a:solidFill>
              <a:latin typeface="Aptos"/>
            </a:endParaRPr>
          </a:p>
        </p:txBody>
      </p:sp>
      <p:pic>
        <p:nvPicPr>
          <p:cNvPr id="15366" name="Picture 6" descr="Logos - Tencent">
            <a:extLst>
              <a:ext uri="{FF2B5EF4-FFF2-40B4-BE49-F238E27FC236}">
                <a16:creationId xmlns:a16="http://schemas.microsoft.com/office/drawing/2014/main" id="{3F086B60-07B8-3DB0-CDAF-E997B50CE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0903" y="2807333"/>
            <a:ext cx="2122877" cy="71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B02462-18F5-0185-D3B4-B473AA7DFAAF}"/>
              </a:ext>
            </a:extLst>
          </p:cNvPr>
          <p:cNvSpPr/>
          <p:nvPr/>
        </p:nvSpPr>
        <p:spPr>
          <a:xfrm>
            <a:off x="230584" y="1851102"/>
            <a:ext cx="5259935" cy="3979807"/>
          </a:xfrm>
          <a:prstGeom prst="roundRect">
            <a:avLst>
              <a:gd name="adj" fmla="val 14000"/>
            </a:avLst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2400" b="1">
                <a:solidFill>
                  <a:schemeClr val="tx2">
                    <a:lumMod val="25000"/>
                  </a:schemeClr>
                </a:solidFill>
                <a:latin typeface="Aptos"/>
              </a:rPr>
              <a:t>Publisher Acquisition </a:t>
            </a:r>
          </a:p>
          <a:p>
            <a:pPr algn="ctr"/>
            <a:r>
              <a:rPr lang="en-GB" sz="2400" b="1">
                <a:solidFill>
                  <a:schemeClr val="tx2">
                    <a:lumMod val="25000"/>
                  </a:schemeClr>
                </a:solidFill>
                <a:latin typeface="Aptos"/>
              </a:rPr>
              <a:t> </a:t>
            </a:r>
            <a:r>
              <a:rPr lang="en-GB" sz="2000" b="1" i="1">
                <a:solidFill>
                  <a:schemeClr val="tx2">
                    <a:lumMod val="25000"/>
                  </a:schemeClr>
                </a:solidFill>
                <a:latin typeface="Aptos"/>
              </a:rPr>
              <a:t>Strategic Rationale</a:t>
            </a:r>
          </a:p>
          <a:p>
            <a:pPr algn="ctr"/>
            <a:endParaRPr lang="en-GB" sz="2400" b="1" dirty="0">
              <a:solidFill>
                <a:schemeClr val="tx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chemeClr val="tx2">
                    <a:lumMod val="25000"/>
                  </a:schemeClr>
                </a:solidFill>
                <a:latin typeface="Aptos"/>
              </a:rPr>
              <a:t>Access to talent  &amp;  pipelines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chemeClr val="tx2">
                    <a:lumMod val="25000"/>
                  </a:schemeClr>
                </a:solidFill>
                <a:latin typeface="Aptos"/>
              </a:rPr>
              <a:t>Exclusive IP portfolio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chemeClr val="tx2">
                    <a:lumMod val="25000"/>
                  </a:schemeClr>
                </a:solidFill>
                <a:latin typeface="Aptos"/>
              </a:rPr>
              <a:t>Strengthens Game Pass differentiation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>
                <a:solidFill>
                  <a:schemeClr val="tx2">
                    <a:lumMod val="25000"/>
                  </a:schemeClr>
                </a:solidFill>
                <a:latin typeface="Aptos"/>
              </a:rPr>
              <a:t>Publishers may be undervalued</a:t>
            </a:r>
          </a:p>
          <a:p>
            <a:endParaRPr lang="en-GB" sz="2400">
              <a:solidFill>
                <a:schemeClr val="tx2">
                  <a:lumMod val="25000"/>
                </a:schemeClr>
              </a:solidFill>
              <a:latin typeface="Aptos" panose="020B0004020202020204" pitchFamily="34" charset="0"/>
            </a:endParaRPr>
          </a:p>
          <a:p>
            <a:endParaRPr lang="en-GB" sz="2400">
              <a:solidFill>
                <a:schemeClr val="tx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C48C94C-F752-3A7A-971C-BFF082F55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904" y="3045248"/>
            <a:ext cx="1684921" cy="24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163CC5-DA2E-D49F-FEFF-924DC7AB8B76}"/>
              </a:ext>
            </a:extLst>
          </p:cNvPr>
          <p:cNvSpPr txBox="1"/>
          <p:nvPr/>
        </p:nvSpPr>
        <p:spPr>
          <a:xfrm>
            <a:off x="0" y="494664"/>
            <a:ext cx="1023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Aptos" panose="020B0004020202020204" pitchFamily="34" charset="0"/>
              </a:rPr>
              <a:t>Positioning Microsoft in a $200B Gaming Market</a:t>
            </a:r>
            <a:endParaRPr lang="en-DE" sz="3600" b="1" dirty="0">
              <a:solidFill>
                <a:schemeClr val="accent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ECB6BE63-48D4-0F75-D137-D52E19B9D3E3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42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BA2FD-E3C6-77D4-9A35-54DA5609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75A3BDA2-0AF5-0EA7-A636-3F64EACD3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3F203CD-F057-4765-5352-E41C6C3B2432}"/>
              </a:ext>
            </a:extLst>
          </p:cNvPr>
          <p:cNvSpPr txBox="1">
            <a:spLocks/>
          </p:cNvSpPr>
          <p:nvPr/>
        </p:nvSpPr>
        <p:spPr>
          <a:xfrm>
            <a:off x="4132323" y="1296308"/>
            <a:ext cx="4550508" cy="505897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>
                <a:solidFill>
                  <a:schemeClr val="accent1"/>
                </a:solidFill>
                <a:latin typeface="Aptos"/>
              </a:rPr>
              <a:t>Positive reviews ratio </a:t>
            </a:r>
            <a:r>
              <a:rPr lang="en-US" sz="2800">
                <a:solidFill>
                  <a:schemeClr val="accent1"/>
                </a:solidFill>
                <a:latin typeface="Aptos"/>
              </a:rPr>
              <a:t> </a:t>
            </a:r>
            <a:endParaRPr lang="en-US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Aptos"/>
              </a:rPr>
              <a:t>Review score</a:t>
            </a:r>
            <a:endParaRPr lang="en-US" sz="280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Aptos"/>
              </a:rPr>
              <a:t>Semantic score</a:t>
            </a:r>
            <a:endParaRPr lang="en-US" sz="280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Aptos"/>
              </a:rPr>
              <a:t>Recommendation rate</a:t>
            </a:r>
            <a:endParaRPr lang="en-US" sz="280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accent1"/>
                </a:solidFill>
                <a:latin typeface="Aptos"/>
              </a:rPr>
              <a:t>Monetising</a:t>
            </a:r>
            <a:r>
              <a:rPr lang="en-US" sz="2800" b="1" dirty="0">
                <a:solidFill>
                  <a:schemeClr val="accent1"/>
                </a:solidFill>
                <a:latin typeface="Aptos"/>
              </a:rPr>
              <a:t> efficiency</a:t>
            </a:r>
            <a:endParaRPr lang="en-US" sz="280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Aptos"/>
              </a:rPr>
              <a:t>Owner acquisition rate</a:t>
            </a:r>
            <a:endParaRPr lang="en-US" sz="2800">
              <a:solidFill>
                <a:schemeClr val="accent1"/>
              </a:solidFill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accent1"/>
                </a:solidFill>
                <a:latin typeface="Aptos"/>
              </a:rPr>
              <a:t> </a:t>
            </a:r>
            <a:r>
              <a:rPr lang="en-US" sz="2800" b="1" dirty="0">
                <a:solidFill>
                  <a:schemeClr val="accent1"/>
                </a:solidFill>
                <a:latin typeface="Aptos"/>
              </a:rPr>
              <a:t>Engagement ratio</a:t>
            </a:r>
            <a:endParaRPr lang="en-US" sz="2800">
              <a:solidFill>
                <a:schemeClr val="accent1"/>
              </a:solidFill>
              <a:latin typeface="Aptos"/>
            </a:endParaRPr>
          </a:p>
          <a:p>
            <a:pPr marL="0" indent="0">
              <a:buNone/>
            </a:pPr>
            <a:endParaRPr lang="en-US" sz="28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E0527A-5B27-7CF4-CD6F-7455D89B9398}"/>
              </a:ext>
            </a:extLst>
          </p:cNvPr>
          <p:cNvSpPr txBox="1"/>
          <p:nvPr/>
        </p:nvSpPr>
        <p:spPr>
          <a:xfrm>
            <a:off x="11516412" y="6233643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+mj-lt"/>
              </a:rPr>
              <a:t>4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ZoneTexte 9">
            <a:extLst>
              <a:ext uri="{FF2B5EF4-FFF2-40B4-BE49-F238E27FC236}">
                <a16:creationId xmlns:a16="http://schemas.microsoft.com/office/drawing/2014/main" id="{755EA7D2-2FA9-B3AF-5333-32BE7676ED99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cap="all">
                <a:solidFill>
                  <a:schemeClr val="accent4"/>
                </a:solidFill>
                <a:latin typeface="Aptos"/>
              </a:rPr>
              <a:t>KPIs</a:t>
            </a:r>
            <a:endParaRPr lang="fr-FR" sz="2400">
              <a:solidFill>
                <a:schemeClr val="accent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B2AB9-A2EF-88A3-261C-980BA6111432}"/>
              </a:ext>
            </a:extLst>
          </p:cNvPr>
          <p:cNvSpPr txBox="1"/>
          <p:nvPr/>
        </p:nvSpPr>
        <p:spPr>
          <a:xfrm>
            <a:off x="0" y="494664"/>
            <a:ext cx="1095805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Measuring performance with game-specific KPIs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B0AE7-9AA9-644D-FDD4-ABA6F50F7576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Graphic 16" descr="Customer review with solid fill">
            <a:extLst>
              <a:ext uri="{FF2B5EF4-FFF2-40B4-BE49-F238E27FC236}">
                <a16:creationId xmlns:a16="http://schemas.microsoft.com/office/drawing/2014/main" id="{D7F93EB7-2CD7-3DBE-6C99-DAA6F5E78D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4590" y="1162365"/>
            <a:ext cx="914400" cy="914400"/>
          </a:xfrm>
          <a:prstGeom prst="rect">
            <a:avLst/>
          </a:prstGeom>
        </p:spPr>
      </p:pic>
      <p:pic>
        <p:nvPicPr>
          <p:cNvPr id="23" name="Graphic 22" descr="Rating Star with solid fill">
            <a:extLst>
              <a:ext uri="{FF2B5EF4-FFF2-40B4-BE49-F238E27FC236}">
                <a16:creationId xmlns:a16="http://schemas.microsoft.com/office/drawing/2014/main" id="{17DD3C2C-AF0E-4E28-0D9A-981F0C5F5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4590" y="1843779"/>
            <a:ext cx="914400" cy="914400"/>
          </a:xfrm>
          <a:prstGeom prst="rect">
            <a:avLst/>
          </a:prstGeom>
        </p:spPr>
      </p:pic>
      <p:pic>
        <p:nvPicPr>
          <p:cNvPr id="26" name="Graphic 25" descr="Storytelling with solid fill">
            <a:extLst>
              <a:ext uri="{FF2B5EF4-FFF2-40B4-BE49-F238E27FC236}">
                <a16:creationId xmlns:a16="http://schemas.microsoft.com/office/drawing/2014/main" id="{69725AF1-99FE-91C5-5DE4-DDD6D7820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4590" y="2514895"/>
            <a:ext cx="914400" cy="914400"/>
          </a:xfrm>
          <a:prstGeom prst="rect">
            <a:avLst/>
          </a:prstGeom>
        </p:spPr>
      </p:pic>
      <p:pic>
        <p:nvPicPr>
          <p:cNvPr id="30" name="Graphic 29" descr="Comment Add with solid fill">
            <a:extLst>
              <a:ext uri="{FF2B5EF4-FFF2-40B4-BE49-F238E27FC236}">
                <a16:creationId xmlns:a16="http://schemas.microsoft.com/office/drawing/2014/main" id="{496434BC-4611-AC44-4CFC-40190F2BC7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4590" y="3394929"/>
            <a:ext cx="914400" cy="914400"/>
          </a:xfrm>
          <a:prstGeom prst="rect">
            <a:avLst/>
          </a:prstGeom>
        </p:spPr>
      </p:pic>
      <p:pic>
        <p:nvPicPr>
          <p:cNvPr id="32" name="Graphic 31" descr="Money with solid fill">
            <a:extLst>
              <a:ext uri="{FF2B5EF4-FFF2-40B4-BE49-F238E27FC236}">
                <a16:creationId xmlns:a16="http://schemas.microsoft.com/office/drawing/2014/main" id="{02909A4B-7FE5-C946-006E-D5C4E51CF5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4590" y="3997438"/>
            <a:ext cx="914400" cy="914400"/>
          </a:xfrm>
          <a:prstGeom prst="rect">
            <a:avLst/>
          </a:prstGeom>
        </p:spPr>
      </p:pic>
      <p:pic>
        <p:nvPicPr>
          <p:cNvPr id="4" name="Graphic 3" descr="User network with solid fill">
            <a:extLst>
              <a:ext uri="{FF2B5EF4-FFF2-40B4-BE49-F238E27FC236}">
                <a16:creationId xmlns:a16="http://schemas.microsoft.com/office/drawing/2014/main" id="{22FD3CB2-7772-59C5-648C-98A6E03D93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24590" y="4752758"/>
            <a:ext cx="914400" cy="914400"/>
          </a:xfrm>
          <a:prstGeom prst="rect">
            <a:avLst/>
          </a:prstGeom>
        </p:spPr>
      </p:pic>
      <p:pic>
        <p:nvPicPr>
          <p:cNvPr id="7" name="Graphic 6" descr="Theatre with solid fill">
            <a:extLst>
              <a:ext uri="{FF2B5EF4-FFF2-40B4-BE49-F238E27FC236}">
                <a16:creationId xmlns:a16="http://schemas.microsoft.com/office/drawing/2014/main" id="{11A89B0D-6198-BB84-CFB0-FA99670D2D2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24590" y="55152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0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11CFD-7156-3BF8-3894-FF7DC911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438DA7-53D4-199E-EB47-8AC566DA9B57}"/>
              </a:ext>
            </a:extLst>
          </p:cNvPr>
          <p:cNvSpPr txBox="1">
            <a:spLocks/>
          </p:cNvSpPr>
          <p:nvPr/>
        </p:nvSpPr>
        <p:spPr>
          <a:xfrm>
            <a:off x="9416105" y="4683747"/>
            <a:ext cx="2454859" cy="463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accent1"/>
                </a:solidFill>
                <a:latin typeface="Aptos" panose="020B0004020202020204" pitchFamily="34" charset="0"/>
              </a:rPr>
              <a:t>Engagement ratio </a:t>
            </a:r>
          </a:p>
        </p:txBody>
      </p:sp>
      <p:pic>
        <p:nvPicPr>
          <p:cNvPr id="45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9EF1D3B7-CA1C-1426-7DB6-84B4F9D23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CA1C8B-329E-5E92-99D6-AE56ED8FAF19}"/>
              </a:ext>
            </a:extLst>
          </p:cNvPr>
          <p:cNvSpPr/>
          <p:nvPr/>
        </p:nvSpPr>
        <p:spPr>
          <a:xfrm>
            <a:off x="9312660" y="2893128"/>
            <a:ext cx="2765503" cy="9478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Engagement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4A824F-EBB8-B8F7-7AEA-DBB3DA3F9FA4}"/>
              </a:ext>
            </a:extLst>
          </p:cNvPr>
          <p:cNvSpPr/>
          <p:nvPr/>
        </p:nvSpPr>
        <p:spPr>
          <a:xfrm>
            <a:off x="6258521" y="2893128"/>
            <a:ext cx="2765503" cy="9478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Growth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518BAA-14F6-A8F3-3EE7-5A420C1FDEAB}"/>
              </a:ext>
            </a:extLst>
          </p:cNvPr>
          <p:cNvSpPr/>
          <p:nvPr/>
        </p:nvSpPr>
        <p:spPr>
          <a:xfrm>
            <a:off x="3204382" y="2893128"/>
            <a:ext cx="2765503" cy="9478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Aptos"/>
              </a:rPr>
              <a:t>Revenue</a:t>
            </a:r>
            <a:endParaRPr lang="en-US" sz="2400" b="1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42E9C4-2830-1301-A532-8C0DD713D951}"/>
              </a:ext>
            </a:extLst>
          </p:cNvPr>
          <p:cNvSpPr/>
          <p:nvPr/>
        </p:nvSpPr>
        <p:spPr>
          <a:xfrm>
            <a:off x="150243" y="2893128"/>
            <a:ext cx="2765503" cy="9478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Quality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431B1-EC33-7CF8-43FF-1F3203B45D7E}"/>
              </a:ext>
            </a:extLst>
          </p:cNvPr>
          <p:cNvSpPr txBox="1">
            <a:spLocks/>
          </p:cNvSpPr>
          <p:nvPr/>
        </p:nvSpPr>
        <p:spPr>
          <a:xfrm>
            <a:off x="9963680" y="2116551"/>
            <a:ext cx="1463464" cy="94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Aptos" panose="020B0004020202020204" pitchFamily="34" charset="0"/>
              </a:rPr>
              <a:t>10%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8694E49-3E9F-884E-AF02-4B0A02BEE4F0}"/>
              </a:ext>
            </a:extLst>
          </p:cNvPr>
          <p:cNvSpPr txBox="1">
            <a:spLocks/>
          </p:cNvSpPr>
          <p:nvPr/>
        </p:nvSpPr>
        <p:spPr>
          <a:xfrm>
            <a:off x="6909540" y="2116551"/>
            <a:ext cx="1463464" cy="94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Aptos" panose="020B0004020202020204" pitchFamily="34" charset="0"/>
              </a:rPr>
              <a:t>20%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5C4E58-8B07-C28C-F6B2-E6227202D15A}"/>
              </a:ext>
            </a:extLst>
          </p:cNvPr>
          <p:cNvSpPr txBox="1">
            <a:spLocks/>
          </p:cNvSpPr>
          <p:nvPr/>
        </p:nvSpPr>
        <p:spPr>
          <a:xfrm>
            <a:off x="3855401" y="2116551"/>
            <a:ext cx="1463464" cy="94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Aptos"/>
              </a:rPr>
              <a:t>30%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605BB89-360C-9B52-B86D-B3F4FDB247A8}"/>
              </a:ext>
            </a:extLst>
          </p:cNvPr>
          <p:cNvSpPr txBox="1">
            <a:spLocks/>
          </p:cNvSpPr>
          <p:nvPr/>
        </p:nvSpPr>
        <p:spPr>
          <a:xfrm>
            <a:off x="801262" y="2116551"/>
            <a:ext cx="1463464" cy="94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Aptos"/>
              </a:rPr>
              <a:t>40%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F101CD1-2031-2C28-050A-AAF2A1809663}"/>
              </a:ext>
            </a:extLst>
          </p:cNvPr>
          <p:cNvSpPr txBox="1">
            <a:spLocks/>
          </p:cNvSpPr>
          <p:nvPr/>
        </p:nvSpPr>
        <p:spPr>
          <a:xfrm>
            <a:off x="6426735" y="4532138"/>
            <a:ext cx="2454859" cy="947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>
                <a:solidFill>
                  <a:schemeClr val="accent1"/>
                </a:solidFill>
                <a:latin typeface="Aptos"/>
              </a:rPr>
              <a:t>Owner acquisition rate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88EF9-BAD2-631A-8DAB-2C6F6C3B5CC4}"/>
              </a:ext>
            </a:extLst>
          </p:cNvPr>
          <p:cNvSpPr txBox="1">
            <a:spLocks/>
          </p:cNvSpPr>
          <p:nvPr/>
        </p:nvSpPr>
        <p:spPr>
          <a:xfrm>
            <a:off x="3282042" y="4616762"/>
            <a:ext cx="2610182" cy="463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accent1"/>
                </a:solidFill>
                <a:latin typeface="Aptos"/>
              </a:rPr>
              <a:t>Monetizing </a:t>
            </a:r>
            <a:r>
              <a:rPr lang="en-US" sz="1800">
                <a:solidFill>
                  <a:schemeClr val="accent1"/>
                </a:solidFill>
                <a:latin typeface="Aptos"/>
              </a:rPr>
              <a:t>efficiency</a:t>
            </a:r>
            <a:r>
              <a:rPr lang="en-US" sz="1800" dirty="0">
                <a:solidFill>
                  <a:schemeClr val="accent1"/>
                </a:solidFill>
                <a:latin typeface="Aptos"/>
              </a:rPr>
              <a:t>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450BE0B-683D-BE1F-B10A-D411EF1918BF}"/>
              </a:ext>
            </a:extLst>
          </p:cNvPr>
          <p:cNvSpPr txBox="1">
            <a:spLocks/>
          </p:cNvSpPr>
          <p:nvPr/>
        </p:nvSpPr>
        <p:spPr>
          <a:xfrm>
            <a:off x="305564" y="3845027"/>
            <a:ext cx="2454859" cy="2431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Positive </a:t>
            </a:r>
            <a:r>
              <a:rPr lang="en-US" sz="1800">
                <a:solidFill>
                  <a:schemeClr val="accent1"/>
                </a:solidFill>
                <a:latin typeface="+mj-lt"/>
              </a:rPr>
              <a:t>reviews</a:t>
            </a:r>
            <a:r>
              <a:rPr lang="en-US" sz="18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1800">
                <a:solidFill>
                  <a:schemeClr val="accent1"/>
                </a:solidFill>
                <a:latin typeface="+mj-lt"/>
              </a:rPr>
              <a:t>ratio</a:t>
            </a:r>
            <a:endParaRPr lang="en-US" sz="1800" dirty="0">
              <a:solidFill>
                <a:schemeClr val="accent1"/>
              </a:solidFill>
              <a:latin typeface="+mj-lt"/>
            </a:endParaRPr>
          </a:p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Review </a:t>
            </a:r>
            <a:r>
              <a:rPr lang="en-US" sz="1800">
                <a:solidFill>
                  <a:schemeClr val="accent1"/>
                </a:solidFill>
                <a:latin typeface="+mj-lt"/>
              </a:rPr>
              <a:t>score</a:t>
            </a:r>
            <a:endParaRPr lang="en-US" sz="1800" dirty="0">
              <a:solidFill>
                <a:schemeClr val="accent1"/>
              </a:solidFill>
              <a:latin typeface="+mj-lt"/>
            </a:endParaRPr>
          </a:p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Semantic </a:t>
            </a:r>
            <a:r>
              <a:rPr lang="en-US" sz="1800">
                <a:solidFill>
                  <a:schemeClr val="accent1"/>
                </a:solidFill>
                <a:latin typeface="+mj-lt"/>
              </a:rPr>
              <a:t>score</a:t>
            </a:r>
            <a:r>
              <a:rPr lang="en-US" sz="1800" dirty="0">
                <a:solidFill>
                  <a:schemeClr val="accent1"/>
                </a:solidFill>
                <a:latin typeface="+mj-lt"/>
              </a:rPr>
              <a:t> </a:t>
            </a:r>
          </a:p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Recommendation </a:t>
            </a:r>
            <a:r>
              <a:rPr lang="en-US" sz="1800">
                <a:solidFill>
                  <a:schemeClr val="accent1"/>
                </a:solidFill>
                <a:latin typeface="+mj-lt"/>
              </a:rPr>
              <a:t>rate</a:t>
            </a:r>
            <a:r>
              <a:rPr lang="en-US" sz="1800" dirty="0">
                <a:solidFill>
                  <a:schemeClr val="accent1"/>
                </a:solidFill>
                <a:latin typeface="+mj-lt"/>
              </a:rPr>
              <a:t> 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29139B-BB59-9062-410D-381641B56B16}"/>
              </a:ext>
            </a:extLst>
          </p:cNvPr>
          <p:cNvSpPr txBox="1"/>
          <p:nvPr/>
        </p:nvSpPr>
        <p:spPr>
          <a:xfrm>
            <a:off x="11516412" y="6233643"/>
            <a:ext cx="37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  <a:latin typeface="+mj-lt"/>
              </a:rPr>
              <a:t>5</a:t>
            </a:r>
          </a:p>
        </p:txBody>
      </p:sp>
      <p:sp>
        <p:nvSpPr>
          <p:cNvPr id="20" name="ZoneTexte 9">
            <a:extLst>
              <a:ext uri="{FF2B5EF4-FFF2-40B4-BE49-F238E27FC236}">
                <a16:creationId xmlns:a16="http://schemas.microsoft.com/office/drawing/2014/main" id="{CB5876EC-EE33-33E0-44CB-B36C02CB2532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cap="all" dirty="0">
                <a:solidFill>
                  <a:schemeClr val="accent4"/>
                </a:solidFill>
                <a:latin typeface="Aptos"/>
              </a:rPr>
              <a:t>Approach</a:t>
            </a:r>
            <a:endParaRPr lang="fr-FR" sz="2400" dirty="0">
              <a:solidFill>
                <a:schemeClr val="accent4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CFDF3B-B282-1CD3-8B10-04B05F250ABB}"/>
              </a:ext>
            </a:extLst>
          </p:cNvPr>
          <p:cNvSpPr txBox="1"/>
          <p:nvPr/>
        </p:nvSpPr>
        <p:spPr>
          <a:xfrm>
            <a:off x="0" y="494664"/>
            <a:ext cx="102368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DE" sz="3600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Grouping KPIs </a:t>
            </a:r>
            <a:r>
              <a:rPr lang="en-DE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by forming ranked categories</a:t>
            </a:r>
            <a:endParaRPr lang="en-US" sz="3600" b="1" dirty="0">
              <a:solidFill>
                <a:schemeClr val="accent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C8D7530-D484-310D-B6AA-03E60902D0FA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13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6DED6-820C-D256-5C17-2B90B686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8C269FE-9E0E-8CB3-DB6B-2A7F9BCD03DC}"/>
              </a:ext>
            </a:extLst>
          </p:cNvPr>
          <p:cNvSpPr/>
          <p:nvPr/>
        </p:nvSpPr>
        <p:spPr>
          <a:xfrm>
            <a:off x="135673" y="1644974"/>
            <a:ext cx="11920653" cy="831651"/>
          </a:xfrm>
          <a:prstGeom prst="roundRect">
            <a:avLst>
              <a:gd name="adj" fmla="val 3787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8A85438-F36D-EA2B-D0FE-FCF6558669B3}"/>
              </a:ext>
            </a:extLst>
          </p:cNvPr>
          <p:cNvSpPr txBox="1"/>
          <p:nvPr/>
        </p:nvSpPr>
        <p:spPr>
          <a:xfrm>
            <a:off x="524256" y="5376671"/>
            <a:ext cx="3255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/>
              <a:t>H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17807E-DAF3-59F0-D9EC-6A716EF27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44" y="1830522"/>
            <a:ext cx="2680405" cy="483304"/>
          </a:xfrm>
          <a:prstGeom prst="rect">
            <a:avLst/>
          </a:prstGeom>
        </p:spPr>
      </p:pic>
      <p:pic>
        <p:nvPicPr>
          <p:cNvPr id="8" name="Image 7" descr="Une image contenant Police, Graphique, rouge, logo&#10;&#10;Le contenu généré par l’IA peut être incorrect.">
            <a:extLst>
              <a:ext uri="{FF2B5EF4-FFF2-40B4-BE49-F238E27FC236}">
                <a16:creationId xmlns:a16="http://schemas.microsoft.com/office/drawing/2014/main" id="{4D5C99E0-DF78-AC11-9A42-FA46BDA8A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779" y="1805122"/>
            <a:ext cx="2669116" cy="53410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2B5C53C-12B7-67B6-1BFF-828641C3B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8226" y="1730332"/>
            <a:ext cx="3086805" cy="68368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A6ED565-5C3A-B78F-1A9B-0E1DF3B1988D}"/>
              </a:ext>
            </a:extLst>
          </p:cNvPr>
          <p:cNvSpPr txBox="1"/>
          <p:nvPr/>
        </p:nvSpPr>
        <p:spPr>
          <a:xfrm>
            <a:off x="4455934" y="1184949"/>
            <a:ext cx="30868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800" b="1" dirty="0">
                <a:solidFill>
                  <a:schemeClr val="accent4"/>
                </a:solidFill>
                <a:latin typeface="Aptos"/>
              </a:rPr>
              <a:t>Top 3 Publishers :</a:t>
            </a:r>
          </a:p>
        </p:txBody>
      </p:sp>
      <p:pic>
        <p:nvPicPr>
          <p:cNvPr id="1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AEA6C60A-F36B-0500-58F3-7408424A2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80252D-8B08-0EA9-23B1-BBBDBCF65117}"/>
              </a:ext>
            </a:extLst>
          </p:cNvPr>
          <p:cNvSpPr txBox="1"/>
          <p:nvPr/>
        </p:nvSpPr>
        <p:spPr>
          <a:xfrm>
            <a:off x="11667377" y="6443165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Image 5" descr="Une image contenant texte, capture d’écran, nombre, ligne&#10;&#10;Le contenu généré par l’IA peut être incorrect.">
            <a:extLst>
              <a:ext uri="{FF2B5EF4-FFF2-40B4-BE49-F238E27FC236}">
                <a16:creationId xmlns:a16="http://schemas.microsoft.com/office/drawing/2014/main" id="{EE19A0C3-820F-A90C-E923-34FF13BEC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78" y="2873456"/>
            <a:ext cx="6037624" cy="3589866"/>
          </a:xfrm>
          <a:prstGeom prst="rect">
            <a:avLst/>
          </a:prstGeom>
        </p:spPr>
      </p:pic>
      <p:pic>
        <p:nvPicPr>
          <p:cNvPr id="12" name="Image 11" descr="Une image contenant texte, capture d’écran, nombre, Rectangle&#10;&#10;Le contenu généré par l’IA peut être incorrect.">
            <a:extLst>
              <a:ext uri="{FF2B5EF4-FFF2-40B4-BE49-F238E27FC236}">
                <a16:creationId xmlns:a16="http://schemas.microsoft.com/office/drawing/2014/main" id="{68A4FA62-19EA-809A-9F31-A3137E1D8C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622" y="2873455"/>
            <a:ext cx="6064956" cy="3589867"/>
          </a:xfrm>
          <a:prstGeom prst="rect">
            <a:avLst/>
          </a:prstGeom>
        </p:spPr>
      </p:pic>
      <p:sp>
        <p:nvSpPr>
          <p:cNvPr id="19" name="ZoneTexte 9">
            <a:extLst>
              <a:ext uri="{FF2B5EF4-FFF2-40B4-BE49-F238E27FC236}">
                <a16:creationId xmlns:a16="http://schemas.microsoft.com/office/drawing/2014/main" id="{FCFE1870-9169-7555-F9D6-1DE3722A5D13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dirty="0">
                <a:solidFill>
                  <a:schemeClr val="accent4"/>
                </a:solidFill>
              </a:rPr>
              <a:t>KEY FINDINGS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EA46F5-C269-8B76-AB5F-4A2B06F97B37}"/>
              </a:ext>
            </a:extLst>
          </p:cNvPr>
          <p:cNvSpPr txBox="1"/>
          <p:nvPr/>
        </p:nvSpPr>
        <p:spPr>
          <a:xfrm>
            <a:off x="0" y="494664"/>
            <a:ext cx="102368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Translating KPIs to identify top publishers</a:t>
            </a:r>
            <a:endParaRPr lang="en-US" sz="3600" b="1">
              <a:solidFill>
                <a:schemeClr val="accent1">
                  <a:lumMod val="90000"/>
                  <a:lumOff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5BB93B4F-50D6-90CA-950D-209722AC12F8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49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43D56-172E-165C-E5D5-E1480499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58F41-527C-3CF1-9B5B-860666DE55E4}"/>
              </a:ext>
            </a:extLst>
          </p:cNvPr>
          <p:cNvSpPr txBox="1"/>
          <p:nvPr/>
        </p:nvSpPr>
        <p:spPr>
          <a:xfrm>
            <a:off x="1896636" y="-1545856"/>
            <a:ext cx="86889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GB">
                <a:solidFill>
                  <a:schemeClr val="accent1"/>
                </a:solidFill>
                <a:latin typeface="Aptos"/>
                <a:ea typeface="+mn-lt"/>
                <a:cs typeface="+mn-lt"/>
              </a:rPr>
              <a:t> Significant increase in Microsoft’s market share in the video game industry</a:t>
            </a:r>
            <a:endParaRPr lang="fr-FR">
              <a:solidFill>
                <a:schemeClr val="accent1"/>
              </a:solidFill>
              <a:latin typeface="Aptos"/>
            </a:endParaRPr>
          </a:p>
          <a:p>
            <a:pPr>
              <a:buFont typeface="Arial"/>
              <a:buChar char="•"/>
            </a:pPr>
            <a:r>
              <a:rPr lang="en-GB">
                <a:solidFill>
                  <a:schemeClr val="accent1"/>
                </a:solidFill>
                <a:latin typeface="Aptos"/>
                <a:ea typeface="+mn-lt"/>
                <a:cs typeface="+mn-lt"/>
              </a:rPr>
              <a:t> Strengthened market power and competitive positioning</a:t>
            </a:r>
            <a:endParaRPr lang="en-GB">
              <a:solidFill>
                <a:schemeClr val="accent1"/>
              </a:solidFill>
              <a:latin typeface="Aptos"/>
            </a:endParaRPr>
          </a:p>
          <a:p>
            <a:pPr>
              <a:buFont typeface="Arial"/>
              <a:buChar char="•"/>
            </a:pPr>
            <a:r>
              <a:rPr lang="en-GB">
                <a:solidFill>
                  <a:schemeClr val="accent1"/>
                </a:solidFill>
                <a:latin typeface="Aptos"/>
                <a:ea typeface="+mn-lt"/>
                <a:cs typeface="+mn-lt"/>
              </a:rPr>
              <a:t> Substantial growth in gaming revenues</a:t>
            </a:r>
            <a:endParaRPr lang="en-GB">
              <a:solidFill>
                <a:schemeClr val="accent1"/>
              </a:solidFill>
              <a:latin typeface="Aptos"/>
            </a:endParaRPr>
          </a:p>
          <a:p>
            <a:pPr>
              <a:buFont typeface="Arial"/>
              <a:buChar char="•"/>
            </a:pPr>
            <a:r>
              <a:rPr lang="en-GB">
                <a:solidFill>
                  <a:schemeClr val="accent1"/>
                </a:solidFill>
                <a:latin typeface="Aptos"/>
                <a:ea typeface="+mn-lt"/>
                <a:cs typeface="+mn-lt"/>
              </a:rPr>
              <a:t> Achieving parity with Microsoft’s biggest competitors, such as Sony Gaming</a:t>
            </a:r>
            <a:endParaRPr lang="en-GB">
              <a:solidFill>
                <a:schemeClr val="accent1"/>
              </a:solidFill>
              <a:latin typeface="Aptos"/>
            </a:endParaRPr>
          </a:p>
        </p:txBody>
      </p:sp>
      <p:pic>
        <p:nvPicPr>
          <p:cNvPr id="7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B7BC4ADA-00C3-8F52-027F-72891C8A9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4814AD-2C5C-576C-F5B2-4CA771CDDA1F}"/>
              </a:ext>
            </a:extLst>
          </p:cNvPr>
          <p:cNvSpPr txBox="1"/>
          <p:nvPr/>
        </p:nvSpPr>
        <p:spPr>
          <a:xfrm>
            <a:off x="11790227" y="6414545"/>
            <a:ext cx="370024" cy="3678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ptos"/>
              </a:rPr>
              <a:t>7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B10BCF-A0C5-0779-C92E-9F37604790DB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>
                <a:solidFill>
                  <a:schemeClr val="accent4"/>
                </a:solidFill>
              </a:rPr>
              <a:t>STRATEGIC 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640F8-7DD7-4780-7897-0CEAC414C076}"/>
              </a:ext>
            </a:extLst>
          </p:cNvPr>
          <p:cNvSpPr txBox="1"/>
          <p:nvPr/>
        </p:nvSpPr>
        <p:spPr>
          <a:xfrm>
            <a:off x="0" y="533246"/>
            <a:ext cx="1051654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The potential financial impact of key acquisitions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0CD5C-32D8-2D10-9432-238B54BB7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60" y="1277762"/>
            <a:ext cx="9855487" cy="527355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89DAFBA-C5D9-5EF6-D1A2-45939C79576E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4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66EB-7957-0487-7CDA-23E9C1F4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3ABF66-B1B5-A5E8-C04E-2257AD959C75}"/>
              </a:ext>
            </a:extLst>
          </p:cNvPr>
          <p:cNvSpPr/>
          <p:nvPr/>
        </p:nvSpPr>
        <p:spPr>
          <a:xfrm>
            <a:off x="966126" y="3609047"/>
            <a:ext cx="6540499" cy="1015663"/>
          </a:xfrm>
          <a:prstGeom prst="roundRect">
            <a:avLst>
              <a:gd name="adj" fmla="val 1921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DF3401-E704-AD93-6CB6-B68A11E274CC}"/>
              </a:ext>
            </a:extLst>
          </p:cNvPr>
          <p:cNvSpPr/>
          <p:nvPr/>
        </p:nvSpPr>
        <p:spPr>
          <a:xfrm>
            <a:off x="966124" y="2493093"/>
            <a:ext cx="6540499" cy="1015663"/>
          </a:xfrm>
          <a:prstGeom prst="roundRect">
            <a:avLst>
              <a:gd name="adj" fmla="val 1921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5558F3-B7F4-A12A-4809-D5E7C119E214}"/>
              </a:ext>
            </a:extLst>
          </p:cNvPr>
          <p:cNvSpPr/>
          <p:nvPr/>
        </p:nvSpPr>
        <p:spPr>
          <a:xfrm>
            <a:off x="966127" y="1381272"/>
            <a:ext cx="6540499" cy="1015663"/>
          </a:xfrm>
          <a:prstGeom prst="roundRect">
            <a:avLst>
              <a:gd name="adj" fmla="val 1921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3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D7178507-9601-319C-5F77-10001D098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9F816C-9E59-6033-B5B3-200A18D1CF3C}"/>
              </a:ext>
            </a:extLst>
          </p:cNvPr>
          <p:cNvSpPr txBox="1"/>
          <p:nvPr/>
        </p:nvSpPr>
        <p:spPr>
          <a:xfrm>
            <a:off x="966128" y="1381272"/>
            <a:ext cx="615950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  <a:latin typeface="Aptos"/>
              </a:rPr>
              <a:t>Capcom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Trades mainly on the Japanese Stock Exchange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Market Cap of 10 € billion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AE25AD-CC19-45B6-171E-187513B14C3E}"/>
              </a:ext>
            </a:extLst>
          </p:cNvPr>
          <p:cNvSpPr txBox="1"/>
          <p:nvPr/>
        </p:nvSpPr>
        <p:spPr>
          <a:xfrm>
            <a:off x="966125" y="2493093"/>
            <a:ext cx="65405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  <a:latin typeface="Aptos"/>
              </a:rPr>
              <a:t>Valve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Privately owned - Gabe Newell largest shareholder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Estimated to be worth around 14 € Billion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49366-3BBD-4B72-E60C-8244E1E57D97}"/>
              </a:ext>
            </a:extLst>
          </p:cNvPr>
          <p:cNvSpPr txBox="1"/>
          <p:nvPr/>
        </p:nvSpPr>
        <p:spPr>
          <a:xfrm>
            <a:off x="966126" y="3609047"/>
            <a:ext cx="65405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solidFill>
                  <a:schemeClr val="accent1"/>
                </a:solidFill>
                <a:latin typeface="Aptos"/>
              </a:rPr>
              <a:t>Electronic Arts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Trades mainly on the Nasdaq Stock Exchange</a:t>
            </a:r>
          </a:p>
          <a:p>
            <a:pPr marL="285750" indent="-285750">
              <a:buFont typeface="Arial"/>
              <a:buChar char="•"/>
            </a:pPr>
            <a:r>
              <a:rPr lang="en-GB" sz="2000">
                <a:solidFill>
                  <a:schemeClr val="accent1"/>
                </a:solidFill>
                <a:latin typeface="Aptos"/>
              </a:rPr>
              <a:t>Market Cap of 37 € Billion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F2F57A-EACB-51CE-69C7-4DDD5F0D3260}"/>
              </a:ext>
            </a:extLst>
          </p:cNvPr>
          <p:cNvSpPr txBox="1"/>
          <p:nvPr/>
        </p:nvSpPr>
        <p:spPr>
          <a:xfrm>
            <a:off x="11637827" y="6359263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8</a:t>
            </a:r>
            <a:endParaRPr lang="en-US">
              <a:solidFill>
                <a:srgbClr val="003A41"/>
              </a:solidFill>
            </a:endParaRPr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0C3F6A1C-4555-B438-75A4-91D0BC198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657" y="1552602"/>
            <a:ext cx="2680405" cy="483304"/>
          </a:xfrm>
          <a:prstGeom prst="rect">
            <a:avLst/>
          </a:prstGeom>
        </p:spPr>
      </p:pic>
      <p:pic>
        <p:nvPicPr>
          <p:cNvPr id="11" name="Image 7" descr="Une image contenant Police, Graphique, rouge, logo&#10;&#10;Le contenu généré par l’IA peut être incorrect.">
            <a:extLst>
              <a:ext uri="{FF2B5EF4-FFF2-40B4-BE49-F238E27FC236}">
                <a16:creationId xmlns:a16="http://schemas.microsoft.com/office/drawing/2014/main" id="{EA722463-8E49-E74D-B58B-F20595DAD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946" y="2733871"/>
            <a:ext cx="2669116" cy="534105"/>
          </a:xfrm>
          <a:prstGeom prst="rect">
            <a:avLst/>
          </a:prstGeom>
        </p:spPr>
      </p:pic>
      <p:pic>
        <p:nvPicPr>
          <p:cNvPr id="13" name="Image 8">
            <a:extLst>
              <a:ext uri="{FF2B5EF4-FFF2-40B4-BE49-F238E27FC236}">
                <a16:creationId xmlns:a16="http://schemas.microsoft.com/office/drawing/2014/main" id="{03254A9B-4E41-2BB8-9324-DFFC8A65D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946" y="3794791"/>
            <a:ext cx="2674761" cy="644173"/>
          </a:xfrm>
          <a:prstGeom prst="rect">
            <a:avLst/>
          </a:prstGeom>
        </p:spPr>
      </p:pic>
      <p:sp>
        <p:nvSpPr>
          <p:cNvPr id="16" name="ZoneTexte 9">
            <a:extLst>
              <a:ext uri="{FF2B5EF4-FFF2-40B4-BE49-F238E27FC236}">
                <a16:creationId xmlns:a16="http://schemas.microsoft.com/office/drawing/2014/main" id="{CDE8CF3E-F48E-FB10-CA03-0D95A3A024AD}"/>
              </a:ext>
            </a:extLst>
          </p:cNvPr>
          <p:cNvSpPr txBox="1"/>
          <p:nvPr/>
        </p:nvSpPr>
        <p:spPr>
          <a:xfrm>
            <a:off x="0" y="80295"/>
            <a:ext cx="72546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cap="all">
                <a:solidFill>
                  <a:schemeClr val="accent4"/>
                </a:solidFill>
                <a:latin typeface="Aptos"/>
              </a:rPr>
              <a:t>RECOMMENDATIONS</a:t>
            </a:r>
            <a:endParaRPr lang="fr-FR" sz="2400">
              <a:solidFill>
                <a:schemeClr val="accent4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C5138-FE9F-EAB3-7B89-4368EFC3E2B6}"/>
              </a:ext>
            </a:extLst>
          </p:cNvPr>
          <p:cNvSpPr txBox="1"/>
          <p:nvPr/>
        </p:nvSpPr>
        <p:spPr>
          <a:xfrm>
            <a:off x="0" y="494664"/>
            <a:ext cx="1023682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>
                <a:solidFill>
                  <a:schemeClr val="accent1">
                    <a:lumMod val="90000"/>
                    <a:lumOff val="10000"/>
                  </a:schemeClr>
                </a:solidFill>
                <a:latin typeface="Aptos"/>
              </a:rPr>
              <a:t>Top publishers with roadmap for acquisition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FED18-CCD2-9FB1-202B-8EEAD07DEC3B}"/>
              </a:ext>
            </a:extLst>
          </p:cNvPr>
          <p:cNvSpPr txBox="1"/>
          <p:nvPr/>
        </p:nvSpPr>
        <p:spPr>
          <a:xfrm>
            <a:off x="2390056" y="5607228"/>
            <a:ext cx="195249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Engage Investment Bank Advisors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740CF-7DBB-5821-0231-7FCE0FCB762D}"/>
              </a:ext>
            </a:extLst>
          </p:cNvPr>
          <p:cNvSpPr txBox="1"/>
          <p:nvPr/>
        </p:nvSpPr>
        <p:spPr>
          <a:xfrm>
            <a:off x="5483784" y="5591652"/>
            <a:ext cx="122442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Structure Financing Strategy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8A3B40-D2F7-373A-3299-9CD731527542}"/>
              </a:ext>
            </a:extLst>
          </p:cNvPr>
          <p:cNvSpPr txBox="1"/>
          <p:nvPr/>
        </p:nvSpPr>
        <p:spPr>
          <a:xfrm>
            <a:off x="7987119" y="5558986"/>
            <a:ext cx="18570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Initiate Acquisition Approach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CE2685-B3E1-40FD-49C5-212A9DD7206F}"/>
              </a:ext>
            </a:extLst>
          </p:cNvPr>
          <p:cNvCxnSpPr>
            <a:cxnSpLocks/>
          </p:cNvCxnSpPr>
          <p:nvPr/>
        </p:nvCxnSpPr>
        <p:spPr>
          <a:xfrm flipV="1">
            <a:off x="1638663" y="5191758"/>
            <a:ext cx="8898859" cy="22440"/>
          </a:xfrm>
          <a:prstGeom prst="straightConnector1">
            <a:avLst/>
          </a:prstGeom>
          <a:ln w="57150">
            <a:solidFill>
              <a:schemeClr val="bg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3CA1713E-BACA-F08C-A439-2D2483D0C174}"/>
              </a:ext>
            </a:extLst>
          </p:cNvPr>
          <p:cNvSpPr/>
          <p:nvPr/>
        </p:nvSpPr>
        <p:spPr>
          <a:xfrm>
            <a:off x="3044581" y="4860854"/>
            <a:ext cx="643445" cy="617707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01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2703E7-98B3-3A80-DB6B-69A3162DC450}"/>
              </a:ext>
            </a:extLst>
          </p:cNvPr>
          <p:cNvSpPr/>
          <p:nvPr/>
        </p:nvSpPr>
        <p:spPr>
          <a:xfrm>
            <a:off x="5774277" y="4860854"/>
            <a:ext cx="643445" cy="617707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02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5891CC-B160-3B47-3206-04839FDC9A68}"/>
              </a:ext>
            </a:extLst>
          </p:cNvPr>
          <p:cNvSpPr/>
          <p:nvPr/>
        </p:nvSpPr>
        <p:spPr>
          <a:xfrm>
            <a:off x="8590783" y="4860855"/>
            <a:ext cx="643445" cy="617707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03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DF5574B-9253-E5C7-9CDB-C278EDBC6562}"/>
              </a:ext>
            </a:extLst>
          </p:cNvPr>
          <p:cNvSpPr txBox="1">
            <a:spLocks/>
          </p:cNvSpPr>
          <p:nvPr/>
        </p:nvSpPr>
        <p:spPr>
          <a:xfrm>
            <a:off x="0" y="6590805"/>
            <a:ext cx="3864077" cy="267195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Robert,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Emilien</a:t>
            </a: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 ,   Andrii,   Yu Shuang,   </a:t>
            </a:r>
            <a:r>
              <a:rPr lang="en-US" sz="14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Joar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38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128E6-4E1B-D404-E4A3-FB818447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9">
            <a:extLst>
              <a:ext uri="{FF2B5EF4-FFF2-40B4-BE49-F238E27FC236}">
                <a16:creationId xmlns:a16="http://schemas.microsoft.com/office/drawing/2014/main" id="{B928C33C-8DFC-13E9-E52F-AB3326E4B52D}"/>
              </a:ext>
            </a:extLst>
          </p:cNvPr>
          <p:cNvSpPr txBox="1"/>
          <p:nvPr/>
        </p:nvSpPr>
        <p:spPr>
          <a:xfrm>
            <a:off x="1638300" y="2921168"/>
            <a:ext cx="93535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u="sng" cap="all">
                <a:solidFill>
                  <a:srgbClr val="003A41"/>
                </a:solidFill>
                <a:latin typeface="Aptos"/>
              </a:rPr>
              <a:t>Appendix &amp; References</a:t>
            </a:r>
            <a:endParaRPr lang="fr-FR" sz="6000">
              <a:solidFill>
                <a:srgbClr val="003A41"/>
              </a:solidFill>
            </a:endParaRPr>
          </a:p>
        </p:txBody>
      </p:sp>
      <p:pic>
        <p:nvPicPr>
          <p:cNvPr id="6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A584C470-426A-7CFC-E2F0-66A5918C2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28569-9BAB-3018-3A0C-5F0FD8147A39}"/>
              </a:ext>
            </a:extLst>
          </p:cNvPr>
          <p:cNvSpPr txBox="1"/>
          <p:nvPr/>
        </p:nvSpPr>
        <p:spPr>
          <a:xfrm>
            <a:off x="11637827" y="6359263"/>
            <a:ext cx="370024" cy="367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9</a:t>
            </a:r>
            <a:endParaRPr lang="en-US">
              <a:solidFill>
                <a:srgbClr val="003A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92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B91C3-18FC-11F5-6EAC-722B5AC2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1B46879-462C-ECDF-BFC6-109DBF0963D8}"/>
              </a:ext>
            </a:extLst>
          </p:cNvPr>
          <p:cNvSpPr txBox="1">
            <a:spLocks/>
          </p:cNvSpPr>
          <p:nvPr/>
        </p:nvSpPr>
        <p:spPr>
          <a:xfrm>
            <a:off x="4233130" y="447676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Key Assumptions: </a:t>
            </a: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2B7FE11F-F6DD-9485-8E35-25B515FE3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0E8B40-EC4E-883A-D26B-2197B8770BBF}"/>
              </a:ext>
            </a:extLst>
          </p:cNvPr>
          <p:cNvSpPr txBox="1"/>
          <p:nvPr/>
        </p:nvSpPr>
        <p:spPr>
          <a:xfrm>
            <a:off x="11637827" y="6359263"/>
            <a:ext cx="44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10</a:t>
            </a:r>
            <a:endParaRPr lang="en-US">
              <a:solidFill>
                <a:srgbClr val="003A4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13B5D-850A-852D-B40E-D967540A15F6}"/>
              </a:ext>
            </a:extLst>
          </p:cNvPr>
          <p:cNvSpPr txBox="1"/>
          <p:nvPr/>
        </p:nvSpPr>
        <p:spPr>
          <a:xfrm>
            <a:off x="2531436" y="1270874"/>
            <a:ext cx="69694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Average Owners – since the real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owners'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amount is not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available,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we used the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average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from the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owners'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range</a:t>
            </a:r>
          </a:p>
          <a:p>
            <a:pPr marL="342900" indent="-342900">
              <a:buAutoNum type="arabicParenR"/>
            </a:pPr>
            <a:endParaRPr lang="en-DE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The data provides only the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users'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yesterday (30.10.2024) we assume these numbers as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the average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daily amount of users overall</a:t>
            </a:r>
          </a:p>
          <a:p>
            <a:pPr marL="342900" indent="-342900">
              <a:buAutoNum type="arabicParenR"/>
            </a:pPr>
            <a:endParaRPr lang="en-DE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Demo versions were excluded as they were not </a:t>
            </a: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released</a:t>
            </a:r>
            <a:r>
              <a:rPr lang="en-DE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 and did not collect enough data from users</a:t>
            </a:r>
          </a:p>
          <a:p>
            <a:pPr marL="342900" indent="-342900">
              <a:buAutoNum type="arabicParenR"/>
            </a:pPr>
            <a:endParaRPr lang="en-DE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We considered only publishers with 20+ games, as smaller ones were largely generic or had broken names due to data inaccuracies</a:t>
            </a:r>
          </a:p>
          <a:p>
            <a:pPr marL="342900" indent="-342900">
              <a:buAutoNum type="arabicParenR"/>
            </a:pPr>
            <a:endParaRPr lang="en-GB" dirty="0">
              <a:solidFill>
                <a:schemeClr val="accent4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AutoNum type="arabicParenR"/>
            </a:pPr>
            <a:r>
              <a:rPr lang="en-GB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To improve data quality, we removed spaces and converted all publisher names to lowercase during grouping, ensuring that misspelled entries were still grouped together.</a:t>
            </a:r>
          </a:p>
        </p:txBody>
      </p:sp>
    </p:spTree>
    <p:extLst>
      <p:ext uri="{BB962C8B-B14F-4D97-AF65-F5344CB8AC3E}">
        <p14:creationId xmlns:p14="http://schemas.microsoft.com/office/powerpoint/2010/main" val="262441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CD2F-20DB-D934-E3D2-BA98FF69F052}"/>
              </a:ext>
            </a:extLst>
          </p:cNvPr>
          <p:cNvSpPr txBox="1">
            <a:spLocks/>
          </p:cNvSpPr>
          <p:nvPr/>
        </p:nvSpPr>
        <p:spPr>
          <a:xfrm>
            <a:off x="4233130" y="447676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KPI Description: </a:t>
            </a: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64127693-0CBB-2F6D-C7E2-59855CB16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FA02E-861D-D947-4A8A-5671338BF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63821"/>
              </p:ext>
            </p:extLst>
          </p:nvPr>
        </p:nvGraphicFramePr>
        <p:xfrm>
          <a:off x="549007" y="1338171"/>
          <a:ext cx="11093985" cy="44768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1655">
                  <a:extLst>
                    <a:ext uri="{9D8B030D-6E8A-4147-A177-3AD203B41FA5}">
                      <a16:colId xmlns:a16="http://schemas.microsoft.com/office/drawing/2014/main" val="2913420867"/>
                    </a:ext>
                  </a:extLst>
                </a:gridCol>
                <a:gridCol w="979648">
                  <a:extLst>
                    <a:ext uri="{9D8B030D-6E8A-4147-A177-3AD203B41FA5}">
                      <a16:colId xmlns:a16="http://schemas.microsoft.com/office/drawing/2014/main" val="793322813"/>
                    </a:ext>
                  </a:extLst>
                </a:gridCol>
                <a:gridCol w="2230261">
                  <a:extLst>
                    <a:ext uri="{9D8B030D-6E8A-4147-A177-3AD203B41FA5}">
                      <a16:colId xmlns:a16="http://schemas.microsoft.com/office/drawing/2014/main" val="4216730733"/>
                    </a:ext>
                  </a:extLst>
                </a:gridCol>
                <a:gridCol w="1479893">
                  <a:extLst>
                    <a:ext uri="{9D8B030D-6E8A-4147-A177-3AD203B41FA5}">
                      <a16:colId xmlns:a16="http://schemas.microsoft.com/office/drawing/2014/main" val="2689758613"/>
                    </a:ext>
                  </a:extLst>
                </a:gridCol>
                <a:gridCol w="1042178">
                  <a:extLst>
                    <a:ext uri="{9D8B030D-6E8A-4147-A177-3AD203B41FA5}">
                      <a16:colId xmlns:a16="http://schemas.microsoft.com/office/drawing/2014/main" val="3300949653"/>
                    </a:ext>
                  </a:extLst>
                </a:gridCol>
                <a:gridCol w="1114919">
                  <a:extLst>
                    <a:ext uri="{9D8B030D-6E8A-4147-A177-3AD203B41FA5}">
                      <a16:colId xmlns:a16="http://schemas.microsoft.com/office/drawing/2014/main" val="3277578922"/>
                    </a:ext>
                  </a:extLst>
                </a:gridCol>
                <a:gridCol w="2785431">
                  <a:extLst>
                    <a:ext uri="{9D8B030D-6E8A-4147-A177-3AD203B41FA5}">
                      <a16:colId xmlns:a16="http://schemas.microsoft.com/office/drawing/2014/main" val="3212247853"/>
                    </a:ext>
                  </a:extLst>
                </a:gridCol>
              </a:tblGrid>
              <a:tr h="55497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KPI</a:t>
                      </a:r>
                      <a:endParaRPr lang="en-GB" sz="1200" b="1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Category</a:t>
                      </a:r>
                      <a:endParaRPr lang="en-GB" sz="1200" b="1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Formula</a:t>
                      </a:r>
                      <a:endParaRPr lang="en-GB" sz="1200" b="1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Initial measurement unit</a:t>
                      </a:r>
                      <a:endParaRPr lang="en-GB" sz="1200" b="1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Initial range</a:t>
                      </a:r>
                      <a:endParaRPr lang="en-GB" sz="1200" b="1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Normalisartion type</a:t>
                      </a:r>
                      <a:endParaRPr lang="en-GB" sz="1200" b="1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b="1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  <a:endParaRPr lang="en-GB" sz="1200" b="1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725629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Positive Reviews Ratio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Quality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positive reviews / total amount of review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percentage 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0 to 1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linear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Share of positive reviews review score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2347058732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Review Score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Quality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information in the data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categorical points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0 to 9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linear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AVG rating provided by users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3435808696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Semantic Score 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Quality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information in the data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range of value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-1 to 1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logarithmic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LLM analysis of review text to capture tone beyond ratings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2941131194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Recommendation Rate 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Quality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number of recommendation/ average owner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percentage 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 0 to 1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logarithmic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Share of users who recommended the game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2742880647"/>
                  </a:ext>
                </a:extLst>
              </a:tr>
              <a:tr h="591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Monetizing Efficiency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Revenue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average owners* price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euros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0 to ≈ 4.5 billion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logarithmic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Revenue generated per active Owner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3689798287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Owner Acquisition Rate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Growth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average owner/ number of day since released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people per day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0 to ≈ 2000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logarithmic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Rate at which users buy the game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2706551889"/>
                  </a:ext>
                </a:extLst>
              </a:tr>
              <a:tr h="5549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 Engagement ratio 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Engagement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concurent users yesterday / average owners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percentage 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0  to 1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linear</a:t>
                      </a:r>
                      <a:endParaRPr lang="en-GB" sz="1200" b="0" i="0" u="none" strike="noStrike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solidFill>
                            <a:schemeClr val="accent1"/>
                          </a:solidFill>
                          <a:effectLst/>
                          <a:latin typeface="Aptos" panose="020B0004020202020204" pitchFamily="34" charset="0"/>
                        </a:rPr>
                        <a:t>Level of user involvement</a:t>
                      </a:r>
                      <a:endParaRPr lang="en-GB" sz="1200" b="0" i="0" u="none" strike="noStrike" dirty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7701" marR="7701" marT="7701" marB="0" anchor="ctr"/>
                </a:tc>
                <a:extLst>
                  <a:ext uri="{0D108BD9-81ED-4DB2-BD59-A6C34878D82A}">
                    <a16:rowId xmlns:a16="http://schemas.microsoft.com/office/drawing/2014/main" val="268856228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4336964-EACB-8458-0384-23721EB927DE}"/>
              </a:ext>
            </a:extLst>
          </p:cNvPr>
          <p:cNvSpPr txBox="1"/>
          <p:nvPr/>
        </p:nvSpPr>
        <p:spPr>
          <a:xfrm>
            <a:off x="11637827" y="6359263"/>
            <a:ext cx="44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11</a:t>
            </a:r>
            <a:endParaRPr lang="en-US">
              <a:solidFill>
                <a:srgbClr val="003A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76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3106F-D13D-6CFD-76BF-872A2297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0BD4A797-C15B-0C09-148B-AF5BF2389405}"/>
              </a:ext>
            </a:extLst>
          </p:cNvPr>
          <p:cNvSpPr txBox="1">
            <a:spLocks/>
          </p:cNvSpPr>
          <p:nvPr/>
        </p:nvSpPr>
        <p:spPr>
          <a:xfrm>
            <a:off x="4233130" y="83285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Statistics: </a:t>
            </a:r>
            <a:endParaRPr lang="en-US" dirty="0">
              <a:solidFill>
                <a:srgbClr val="003A41"/>
              </a:solidFill>
            </a:endParaRPr>
          </a:p>
          <a:p>
            <a:pPr marL="91440" indent="0">
              <a:buNone/>
            </a:pP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18E67D6D-3CF1-50DB-EB61-AF8FCA04D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0CBB47-13BF-2522-4301-8BFED83961DF}"/>
              </a:ext>
            </a:extLst>
          </p:cNvPr>
          <p:cNvSpPr txBox="1"/>
          <p:nvPr/>
        </p:nvSpPr>
        <p:spPr>
          <a:xfrm>
            <a:off x="11637827" y="6359263"/>
            <a:ext cx="42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12</a:t>
            </a:r>
            <a:endParaRPr lang="en-US">
              <a:solidFill>
                <a:srgbClr val="003A41"/>
              </a:solidFill>
            </a:endParaRPr>
          </a:p>
        </p:txBody>
      </p:sp>
      <p:pic>
        <p:nvPicPr>
          <p:cNvPr id="5" name="Picture 4" descr="A graph of a column&#10;&#10;Description automatically generated with medium confidence">
            <a:extLst>
              <a:ext uri="{FF2B5EF4-FFF2-40B4-BE49-F238E27FC236}">
                <a16:creationId xmlns:a16="http://schemas.microsoft.com/office/drawing/2014/main" id="{2CD5D56A-4838-1B86-EA26-CD2EAEA93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t="4842" r="8759" b="9612"/>
          <a:stretch/>
        </p:blipFill>
        <p:spPr>
          <a:xfrm>
            <a:off x="0" y="769434"/>
            <a:ext cx="6530898" cy="2787805"/>
          </a:xfrm>
          <a:prstGeom prst="rect">
            <a:avLst/>
          </a:prstGeom>
        </p:spPr>
      </p:pic>
      <p:pic>
        <p:nvPicPr>
          <p:cNvPr id="7" name="Picture 6" descr="A graph with blue and white lines&#10;&#10;Description automatically generated">
            <a:extLst>
              <a:ext uri="{FF2B5EF4-FFF2-40B4-BE49-F238E27FC236}">
                <a16:creationId xmlns:a16="http://schemas.microsoft.com/office/drawing/2014/main" id="{00353946-2842-9EC5-80FB-E8A2965EB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" t="3297" r="6797" b="2535"/>
          <a:stretch/>
        </p:blipFill>
        <p:spPr>
          <a:xfrm>
            <a:off x="6570614" y="1924417"/>
            <a:ext cx="5252225" cy="41259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EA4BB-5B09-415C-ABC5-2D206D9FEAA6}"/>
              </a:ext>
            </a:extLst>
          </p:cNvPr>
          <p:cNvSpPr txBox="1"/>
          <p:nvPr/>
        </p:nvSpPr>
        <p:spPr>
          <a:xfrm>
            <a:off x="962799" y="3523785"/>
            <a:ext cx="513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Publishers normalised and sorted by Engagement </a:t>
            </a:r>
          </a:p>
        </p:txBody>
      </p:sp>
    </p:spTree>
    <p:extLst>
      <p:ext uri="{BB962C8B-B14F-4D97-AF65-F5344CB8AC3E}">
        <p14:creationId xmlns:p14="http://schemas.microsoft.com/office/powerpoint/2010/main" val="2196939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2322C-B6BE-0A1A-EDDB-BF4071AE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4614A413-7C13-F296-B873-9F4225882EF5}"/>
              </a:ext>
            </a:extLst>
          </p:cNvPr>
          <p:cNvSpPr txBox="1">
            <a:spLocks/>
          </p:cNvSpPr>
          <p:nvPr/>
        </p:nvSpPr>
        <p:spPr>
          <a:xfrm>
            <a:off x="4233130" y="83285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Statistics: </a:t>
            </a:r>
            <a:endParaRPr lang="en-US" dirty="0">
              <a:solidFill>
                <a:srgbClr val="003A41"/>
              </a:solidFill>
            </a:endParaRPr>
          </a:p>
          <a:p>
            <a:pPr marL="91440" indent="0">
              <a:buNone/>
            </a:pP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8FA81DA2-68A6-0DEC-C563-93A198DBD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490DE8-F4E7-5C63-3C35-8D0A16C0770D}"/>
              </a:ext>
            </a:extLst>
          </p:cNvPr>
          <p:cNvSpPr txBox="1"/>
          <p:nvPr/>
        </p:nvSpPr>
        <p:spPr>
          <a:xfrm>
            <a:off x="11637826" y="6359263"/>
            <a:ext cx="466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13</a:t>
            </a:r>
            <a:endParaRPr lang="en-US">
              <a:solidFill>
                <a:srgbClr val="003A41"/>
              </a:solidFill>
            </a:endParaRPr>
          </a:p>
        </p:txBody>
      </p:sp>
      <p:pic>
        <p:nvPicPr>
          <p:cNvPr id="4" name="Picture 3" descr="A graph of a column&#10;&#10;Description automatically generated">
            <a:extLst>
              <a:ext uri="{FF2B5EF4-FFF2-40B4-BE49-F238E27FC236}">
                <a16:creationId xmlns:a16="http://schemas.microsoft.com/office/drawing/2014/main" id="{56B1741F-C50C-E706-41BF-EDB28AE574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5" t="6635" r="8561" b="8356"/>
          <a:stretch/>
        </p:blipFill>
        <p:spPr>
          <a:xfrm>
            <a:off x="0" y="903251"/>
            <a:ext cx="6568068" cy="2743199"/>
          </a:xfrm>
          <a:prstGeom prst="rect">
            <a:avLst/>
          </a:prstGeom>
        </p:spPr>
      </p:pic>
      <p:pic>
        <p:nvPicPr>
          <p:cNvPr id="8" name="Picture 7" descr="A graph of a distribution of a number of blue squares&#10;&#10;Description automatically generated with medium confidence">
            <a:extLst>
              <a:ext uri="{FF2B5EF4-FFF2-40B4-BE49-F238E27FC236}">
                <a16:creationId xmlns:a16="http://schemas.microsoft.com/office/drawing/2014/main" id="{1609617D-525E-10DE-A3B7-1A7B6941CD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5" t="6098" r="8897" b="2535"/>
          <a:stretch/>
        </p:blipFill>
        <p:spPr>
          <a:xfrm>
            <a:off x="6608627" y="2723780"/>
            <a:ext cx="5040351" cy="40032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2278E9-865C-7232-D678-446F91E6EE7A}"/>
              </a:ext>
            </a:extLst>
          </p:cNvPr>
          <p:cNvSpPr txBox="1"/>
          <p:nvPr/>
        </p:nvSpPr>
        <p:spPr>
          <a:xfrm>
            <a:off x="975510" y="3546088"/>
            <a:ext cx="460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Publishers normalised and sorted by Growth </a:t>
            </a:r>
          </a:p>
        </p:txBody>
      </p:sp>
    </p:spTree>
    <p:extLst>
      <p:ext uri="{BB962C8B-B14F-4D97-AF65-F5344CB8AC3E}">
        <p14:creationId xmlns:p14="http://schemas.microsoft.com/office/powerpoint/2010/main" val="254768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C16E0-3A70-8B9C-E8F8-9C0ED0288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FE912CA-810A-948D-F0CF-581285910565}"/>
              </a:ext>
            </a:extLst>
          </p:cNvPr>
          <p:cNvSpPr txBox="1">
            <a:spLocks/>
          </p:cNvSpPr>
          <p:nvPr/>
        </p:nvSpPr>
        <p:spPr>
          <a:xfrm>
            <a:off x="4233130" y="83285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Statistics: </a:t>
            </a:r>
            <a:endParaRPr lang="en-US" dirty="0">
              <a:solidFill>
                <a:srgbClr val="003A41"/>
              </a:solidFill>
            </a:endParaRPr>
          </a:p>
          <a:p>
            <a:pPr marL="91440" indent="0">
              <a:buNone/>
            </a:pP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5AAB1548-A0AD-AB78-F21A-A2913266B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5E76DD-BBC9-2B41-8053-C3ED5213F59A}"/>
              </a:ext>
            </a:extLst>
          </p:cNvPr>
          <p:cNvSpPr txBox="1"/>
          <p:nvPr/>
        </p:nvSpPr>
        <p:spPr>
          <a:xfrm>
            <a:off x="11637826" y="6359263"/>
            <a:ext cx="554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14</a:t>
            </a:r>
            <a:endParaRPr lang="en-US">
              <a:solidFill>
                <a:srgbClr val="003A41"/>
              </a:solidFill>
            </a:endParaRPr>
          </a:p>
        </p:txBody>
      </p:sp>
      <p:pic>
        <p:nvPicPr>
          <p:cNvPr id="4" name="Picture 3" descr="A graph of a column&#10;&#10;Description automatically generated">
            <a:extLst>
              <a:ext uri="{FF2B5EF4-FFF2-40B4-BE49-F238E27FC236}">
                <a16:creationId xmlns:a16="http://schemas.microsoft.com/office/drawing/2014/main" id="{908CA271-8990-0410-A664-74434F1DE1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" t="6057" r="9055" b="8757"/>
          <a:stretch/>
        </p:blipFill>
        <p:spPr>
          <a:xfrm>
            <a:off x="0" y="685800"/>
            <a:ext cx="6545766" cy="2743200"/>
          </a:xfrm>
          <a:prstGeom prst="rect">
            <a:avLst/>
          </a:prstGeom>
        </p:spPr>
      </p:pic>
      <p:pic>
        <p:nvPicPr>
          <p:cNvPr id="8" name="Picture 7" descr="A graph of a distribution of quality&#10;&#10;Description automatically generated with medium confidence">
            <a:extLst>
              <a:ext uri="{FF2B5EF4-FFF2-40B4-BE49-F238E27FC236}">
                <a16:creationId xmlns:a16="http://schemas.microsoft.com/office/drawing/2014/main" id="{9DC87A76-42CA-83CB-BA7B-02845F2147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2" t="6351" r="8007" b="2790"/>
          <a:stretch/>
        </p:blipFill>
        <p:spPr>
          <a:xfrm>
            <a:off x="6552871" y="2207942"/>
            <a:ext cx="5084956" cy="39809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86B16B-794C-0E10-A884-032F6EE6D516}"/>
              </a:ext>
            </a:extLst>
          </p:cNvPr>
          <p:cNvSpPr txBox="1"/>
          <p:nvPr/>
        </p:nvSpPr>
        <p:spPr>
          <a:xfrm>
            <a:off x="1031266" y="3384396"/>
            <a:ext cx="460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Publishers normalised and sorted by Quality </a:t>
            </a:r>
          </a:p>
        </p:txBody>
      </p:sp>
    </p:spTree>
    <p:extLst>
      <p:ext uri="{BB962C8B-B14F-4D97-AF65-F5344CB8AC3E}">
        <p14:creationId xmlns:p14="http://schemas.microsoft.com/office/powerpoint/2010/main" val="2508006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EBDA3-EF44-B1F4-D270-0FDCDFCA5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C5834D3-5DA6-2BFB-4C9D-9BC8EB3231EC}"/>
              </a:ext>
            </a:extLst>
          </p:cNvPr>
          <p:cNvSpPr txBox="1">
            <a:spLocks/>
          </p:cNvSpPr>
          <p:nvPr/>
        </p:nvSpPr>
        <p:spPr>
          <a:xfrm>
            <a:off x="4233130" y="83285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Statistics: </a:t>
            </a:r>
            <a:endParaRPr lang="en-US" dirty="0">
              <a:solidFill>
                <a:srgbClr val="003A41"/>
              </a:solidFill>
            </a:endParaRPr>
          </a:p>
          <a:p>
            <a:pPr marL="91440" indent="0">
              <a:buNone/>
            </a:pP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pic>
        <p:nvPicPr>
          <p:cNvPr id="41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DA0FC445-31C5-EE4A-8722-8462D4CA0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EADEF7-D893-3772-DA70-EC76E9F2744C}"/>
              </a:ext>
            </a:extLst>
          </p:cNvPr>
          <p:cNvSpPr txBox="1"/>
          <p:nvPr/>
        </p:nvSpPr>
        <p:spPr>
          <a:xfrm>
            <a:off x="11637827" y="6359263"/>
            <a:ext cx="48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15</a:t>
            </a:r>
            <a:endParaRPr lang="en-US">
              <a:solidFill>
                <a:srgbClr val="003A41"/>
              </a:solidFill>
            </a:endParaRPr>
          </a:p>
        </p:txBody>
      </p:sp>
      <p:pic>
        <p:nvPicPr>
          <p:cNvPr id="4" name="Picture 3" descr="A graph of a column&#10;&#10;Description automatically generated">
            <a:extLst>
              <a:ext uri="{FF2B5EF4-FFF2-40B4-BE49-F238E27FC236}">
                <a16:creationId xmlns:a16="http://schemas.microsoft.com/office/drawing/2014/main" id="{60178B12-B30D-BA2D-47CF-E6D59148B8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" t="5918" r="9278" b="8219"/>
          <a:stretch/>
        </p:blipFill>
        <p:spPr>
          <a:xfrm>
            <a:off x="0" y="759557"/>
            <a:ext cx="6501161" cy="2754351"/>
          </a:xfrm>
          <a:prstGeom prst="rect">
            <a:avLst/>
          </a:prstGeom>
        </p:spPr>
      </p:pic>
      <p:pic>
        <p:nvPicPr>
          <p:cNvPr id="8" name="Picture 7" descr="A graph of distribution of revenue&#10;&#10;Description automatically generated">
            <a:extLst>
              <a:ext uri="{FF2B5EF4-FFF2-40B4-BE49-F238E27FC236}">
                <a16:creationId xmlns:a16="http://schemas.microsoft.com/office/drawing/2014/main" id="{1D4075B5-BC4A-34E1-1164-2272ECD905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5" t="6098" r="9469" b="2026"/>
          <a:stretch/>
        </p:blipFill>
        <p:spPr>
          <a:xfrm>
            <a:off x="6804789" y="2333672"/>
            <a:ext cx="5018050" cy="40255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DAF9EC-D2EF-E294-8606-AAD493FA5B58}"/>
              </a:ext>
            </a:extLst>
          </p:cNvPr>
          <p:cNvSpPr txBox="1"/>
          <p:nvPr/>
        </p:nvSpPr>
        <p:spPr>
          <a:xfrm>
            <a:off x="1042417" y="3429000"/>
            <a:ext cx="473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Publishers </a:t>
            </a:r>
            <a:r>
              <a:rPr lang="en-GB" dirty="0">
                <a:solidFill>
                  <a:schemeClr val="accent1"/>
                </a:solidFill>
                <a:latin typeface="Aptos" panose="020B0004020202020204" pitchFamily="34" charset="0"/>
              </a:rPr>
              <a:t>normalised</a:t>
            </a:r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 and sorted by Revenue </a:t>
            </a:r>
          </a:p>
        </p:txBody>
      </p:sp>
    </p:spTree>
    <p:extLst>
      <p:ext uri="{BB962C8B-B14F-4D97-AF65-F5344CB8AC3E}">
        <p14:creationId xmlns:p14="http://schemas.microsoft.com/office/powerpoint/2010/main" val="4057438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F938B-DCAF-7EA3-CCD0-0E52E1A5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96" y="398850"/>
            <a:ext cx="8637452" cy="582353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2907A4-B452-D098-42E2-F9953C159C13}"/>
              </a:ext>
            </a:extLst>
          </p:cNvPr>
          <p:cNvSpPr txBox="1">
            <a:spLocks/>
          </p:cNvSpPr>
          <p:nvPr/>
        </p:nvSpPr>
        <p:spPr>
          <a:xfrm>
            <a:off x="4233130" y="-12387"/>
            <a:ext cx="3725739" cy="676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600" b="1" dirty="0">
                <a:solidFill>
                  <a:srgbClr val="003A41"/>
                </a:solidFill>
                <a:latin typeface="+mj-lt"/>
              </a:rPr>
              <a:t>Final score Preview: </a:t>
            </a:r>
            <a:endParaRPr lang="en-US" dirty="0">
              <a:solidFill>
                <a:srgbClr val="003A41"/>
              </a:solidFill>
            </a:endParaRPr>
          </a:p>
          <a:p>
            <a:pPr marL="91440" indent="0">
              <a:buNone/>
            </a:pPr>
            <a:endParaRPr lang="en-US" dirty="0">
              <a:solidFill>
                <a:srgbClr val="003A41"/>
              </a:solidFill>
            </a:endParaRPr>
          </a:p>
          <a:p>
            <a:pPr marL="320040"/>
            <a:endParaRPr lang="en-US" dirty="0">
              <a:solidFill>
                <a:srgbClr val="003A4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087170-BA4E-FBB0-831B-976F976C754C}"/>
              </a:ext>
            </a:extLst>
          </p:cNvPr>
          <p:cNvSpPr txBox="1"/>
          <p:nvPr/>
        </p:nvSpPr>
        <p:spPr>
          <a:xfrm>
            <a:off x="0" y="6361772"/>
            <a:ext cx="897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* </a:t>
            </a:r>
            <a:r>
              <a:rPr lang="en-GB" dirty="0">
                <a:solidFill>
                  <a:schemeClr val="accent1"/>
                </a:solidFill>
                <a:latin typeface="Aptos" panose="020B0004020202020204" pitchFamily="34" charset="0"/>
              </a:rPr>
              <a:t>F</a:t>
            </a:r>
            <a:r>
              <a:rPr lang="en-DE" dirty="0">
                <a:solidFill>
                  <a:schemeClr val="accent1"/>
                </a:solidFill>
                <a:latin typeface="Aptos" panose="020B0004020202020204" pitchFamily="34" charset="0"/>
              </a:rPr>
              <a:t>or the original Excel file with these Data please check </a:t>
            </a:r>
            <a:r>
              <a:rPr lang="en-DE" b="1" dirty="0">
                <a:solidFill>
                  <a:schemeClr val="accent1"/>
                </a:solidFill>
                <a:latin typeface="Aptos" panose="020B0004020202020204" pitchFamily="34" charset="0"/>
              </a:rPr>
              <a:t>scorring_merged_Winners.xlsx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C204EE-9C2D-6D6B-C18B-3D1E44520BD9}"/>
              </a:ext>
            </a:extLst>
          </p:cNvPr>
          <p:cNvSpPr txBox="1"/>
          <p:nvPr/>
        </p:nvSpPr>
        <p:spPr>
          <a:xfrm>
            <a:off x="11637827" y="6359263"/>
            <a:ext cx="44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+mj-lt"/>
              </a:rPr>
              <a:t>16</a:t>
            </a:r>
            <a:endParaRPr lang="en-US">
              <a:solidFill>
                <a:srgbClr val="003A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582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EFFE1-2021-4001-E705-0EC5D640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16A6C5D5-324F-DB6D-351D-6B6E0BB08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7534DD-A6E8-810D-5513-66F756C49118}"/>
              </a:ext>
            </a:extLst>
          </p:cNvPr>
          <p:cNvSpPr txBox="1"/>
          <p:nvPr/>
        </p:nvSpPr>
        <p:spPr>
          <a:xfrm>
            <a:off x="11637827" y="6359263"/>
            <a:ext cx="45967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Aptos"/>
              </a:rPr>
              <a:t>17</a:t>
            </a:r>
          </a:p>
        </p:txBody>
      </p:sp>
      <p:sp>
        <p:nvSpPr>
          <p:cNvPr id="8" name="ZoneTexte 9">
            <a:extLst>
              <a:ext uri="{FF2B5EF4-FFF2-40B4-BE49-F238E27FC236}">
                <a16:creationId xmlns:a16="http://schemas.microsoft.com/office/drawing/2014/main" id="{FCD6E4D8-B779-2B16-4005-4BD6BEE1B121}"/>
              </a:ext>
            </a:extLst>
          </p:cNvPr>
          <p:cNvSpPr txBox="1"/>
          <p:nvPr/>
        </p:nvSpPr>
        <p:spPr>
          <a:xfrm>
            <a:off x="3514601" y="130932"/>
            <a:ext cx="93535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u="sng" cap="all">
                <a:solidFill>
                  <a:srgbClr val="003A41"/>
                </a:solidFill>
                <a:latin typeface="Aptos"/>
              </a:rPr>
              <a:t>References </a:t>
            </a:r>
            <a:endParaRPr lang="fr-FR" sz="6000">
              <a:solidFill>
                <a:srgbClr val="003A4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2A273-2EB2-98D1-59D7-46A5A9D4DC7E}"/>
              </a:ext>
            </a:extLst>
          </p:cNvPr>
          <p:cNvSpPr txBox="1"/>
          <p:nvPr/>
        </p:nvSpPr>
        <p:spPr>
          <a:xfrm>
            <a:off x="258669" y="1099298"/>
            <a:ext cx="11674476" cy="575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Brief history of Sony’s M&amp;A deals: how PlayStation brought together 20+ first-party studios | Game World Observer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(2023, April 21). Game World Observer. https://gameworldobserver.com/2023/04/21/sony-acquisitions-playstation-studios-20-teams-sie</a:t>
            </a:r>
            <a:endParaRPr lang="en-US" sz="1600">
              <a:latin typeface="Aptos Light"/>
            </a:endParaRPr>
          </a:p>
          <a:p>
            <a:endParaRPr lang="en-US" sz="1600" i="1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Capcom (9697.T) - Market capitalization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(n.d.). https://companiesmarketcap.com/capcom/marketcap/</a:t>
            </a:r>
            <a:endParaRPr lang="en-US" sz="1600">
              <a:latin typeface="Aptos Light"/>
            </a:endParaRPr>
          </a:p>
          <a:p>
            <a:endParaRPr lang="en-US" sz="1600" i="1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 i="1" err="1">
                <a:solidFill>
                  <a:srgbClr val="003A41"/>
                </a:solidFill>
                <a:latin typeface="Aptos Light"/>
                <a:cs typeface="Times New Roman"/>
              </a:rPr>
              <a:t>CapCom</a:t>
            </a:r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 (9697.T) - revenue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(n.d.). https://companiesmarketcap.com/capcom/revenue/</a:t>
            </a:r>
            <a:endParaRPr lang="en-US" sz="1600">
              <a:latin typeface="Aptos Light"/>
            </a:endParaRPr>
          </a:p>
          <a:p>
            <a:endParaRPr lang="en-US" sz="1600" i="1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Client challenge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(n.d.). https://www.ft.com/content/49a3b309-939b-4530-9d37-ee21b13a462c</a:t>
            </a:r>
            <a:endParaRPr lang="en-US" sz="1600">
              <a:latin typeface="Aptos Light"/>
              <a:cs typeface="Times New Roman"/>
            </a:endParaRPr>
          </a:p>
          <a:p>
            <a:endParaRPr lang="en-US" sz="1600" i="1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Electronic Arts (EA) - Market capitalization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(n.d.). https://companiesmarketcap.com/electronic-arts/marketcap/</a:t>
            </a:r>
            <a:endParaRPr lang="en-US" sz="1600">
              <a:latin typeface="Aptos Light"/>
            </a:endParaRPr>
          </a:p>
          <a:p>
            <a:endParaRPr lang="en-US" sz="1600" i="1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Electronic Arts (EA) - revenue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(n.d.). https://companiesmarketcap.com/electronic-arts/revenue/</a:t>
            </a:r>
            <a:endParaRPr lang="en-US" sz="1600">
              <a:latin typeface="Aptos Light"/>
            </a:endParaRPr>
          </a:p>
          <a:p>
            <a:endParaRPr lang="en-US" sz="1600">
              <a:solidFill>
                <a:srgbClr val="003A41"/>
              </a:solidFill>
              <a:latin typeface="Aptos Light"/>
              <a:cs typeface="Times New Roman"/>
            </a:endParaRPr>
          </a:p>
          <a:p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Elliott, R. (2024, December 16). PlayStation’s financial results: The good, the bad, and the hopeful. </a:t>
            </a:r>
            <a:r>
              <a:rPr lang="en-US" sz="1600" i="1" err="1">
                <a:solidFill>
                  <a:srgbClr val="003A41"/>
                </a:solidFill>
                <a:latin typeface="Aptos Light"/>
                <a:cs typeface="Times New Roman"/>
              </a:rPr>
              <a:t>MIDiA</a:t>
            </a:r>
            <a:r>
              <a:rPr lang="en-US" sz="1600" i="1">
                <a:solidFill>
                  <a:srgbClr val="003A41"/>
                </a:solidFill>
                <a:latin typeface="Aptos Light"/>
                <a:cs typeface="Times New Roman"/>
              </a:rPr>
              <a:t> Research</a:t>
            </a:r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. https://www.midiaresearch.com/blog/why-playstations-earnings-point-to-strategy-learnings-short-term-growth-challenges-and-brighter-horizons</a:t>
            </a:r>
            <a:endParaRPr lang="en-US" sz="1600">
              <a:latin typeface="Aptos Light"/>
            </a:endParaRPr>
          </a:p>
          <a:p>
            <a:endParaRPr lang="en-GB" sz="1600" b="1">
              <a:solidFill>
                <a:srgbClr val="003A41"/>
              </a:solidFill>
              <a:cs typeface="Times New Roman"/>
            </a:endParaRPr>
          </a:p>
          <a:p>
            <a:r>
              <a:rPr lang="en-US" sz="1600" err="1">
                <a:solidFill>
                  <a:srgbClr val="003A41"/>
                </a:solidFill>
                <a:cs typeface="Times New Roman"/>
              </a:rPr>
              <a:t>Hagedoorn</a:t>
            </a:r>
            <a:r>
              <a:rPr lang="en-US" sz="1600">
                <a:solidFill>
                  <a:srgbClr val="003A41"/>
                </a:solidFill>
                <a:cs typeface="Times New Roman"/>
              </a:rPr>
              <a:t>, H (2024, May 23) Microsoft Reportedly Readies $16 Billion Bid to Acquire Valve / Steam</a:t>
            </a:r>
            <a:endParaRPr lang="en-US" sz="1600">
              <a:solidFill>
                <a:srgbClr val="FFFFFF"/>
              </a:solidFill>
              <a:cs typeface="Times New Roman"/>
            </a:endParaRPr>
          </a:p>
          <a:p>
            <a:r>
              <a:rPr lang="en-US" sz="1600">
                <a:solidFill>
                  <a:srgbClr val="003A41"/>
                </a:solidFill>
                <a:cs typeface="Times New Roman"/>
              </a:rPr>
              <a:t>https://www.guru3d.com/story/microsoft-reportedly-readies-billion-bid-to-acquire-valve-steam/</a:t>
            </a:r>
            <a:endParaRPr lang="en-GB"/>
          </a:p>
          <a:p>
            <a:endParaRPr lang="en-GB" sz="1600" b="1">
              <a:solidFill>
                <a:srgbClr val="003A41"/>
              </a:solidFill>
              <a:cs typeface="Times New Roman"/>
            </a:endParaRPr>
          </a:p>
          <a:p>
            <a:r>
              <a:rPr lang="en-US" altLang="en-US" sz="1600" err="1">
                <a:solidFill>
                  <a:srgbClr val="003A41"/>
                </a:solidFill>
                <a:cs typeface="Times New Roman"/>
              </a:rPr>
              <a:t>Knezovic</a:t>
            </a:r>
            <a:r>
              <a:rPr lang="en-US" altLang="en-US" sz="1600">
                <a:solidFill>
                  <a:srgbClr val="003A41"/>
                </a:solidFill>
                <a:cs typeface="Times New Roman"/>
              </a:rPr>
              <a:t>, A. (2025, August 7). Gaming Industry Report 2025: Market Size &amp; Trends. </a:t>
            </a:r>
            <a:r>
              <a:rPr lang="en-US" altLang="en-US" sz="1600" i="1">
                <a:solidFill>
                  <a:srgbClr val="003A41"/>
                </a:solidFill>
                <a:cs typeface="Times New Roman"/>
              </a:rPr>
              <a:t>Udonis Mobile Marketing Agency</a:t>
            </a:r>
            <a:r>
              <a:rPr lang="en-US" altLang="en-US" sz="1600">
                <a:solidFill>
                  <a:srgbClr val="003A41"/>
                </a:solidFill>
                <a:cs typeface="Times New Roman"/>
              </a:rPr>
              <a:t>. https://www.blog.udonis.co/mobile-marketing/mobile-games/gaming-industry</a:t>
            </a:r>
            <a:endParaRPr lang="en-US" altLang="en-US" sz="1600">
              <a:solidFill>
                <a:srgbClr val="003A41"/>
              </a:solidFill>
              <a:cs typeface="Times New Roman" panose="02020603050405020304" pitchFamily="18" charset="0"/>
            </a:endParaRPr>
          </a:p>
          <a:p>
            <a:endParaRPr lang="en-US" sz="1600">
              <a:solidFill>
                <a:srgbClr val="003A4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48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5C6D1-D84F-1F84-5106-972FFAB2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Microsoft transparent png, Microsoft free png 19909652 PNG">
            <a:extLst>
              <a:ext uri="{FF2B5EF4-FFF2-40B4-BE49-F238E27FC236}">
                <a16:creationId xmlns:a16="http://schemas.microsoft.com/office/drawing/2014/main" id="{DCF8B11B-8FB7-2602-A45C-5B254676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889" y="-345527"/>
            <a:ext cx="1854085" cy="196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787843-9CCB-EC02-16C9-0F7EFE53167C}"/>
              </a:ext>
            </a:extLst>
          </p:cNvPr>
          <p:cNvSpPr txBox="1"/>
          <p:nvPr/>
        </p:nvSpPr>
        <p:spPr>
          <a:xfrm>
            <a:off x="11637827" y="6359263"/>
            <a:ext cx="45967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>
                <a:solidFill>
                  <a:srgbClr val="003A41"/>
                </a:solidFill>
                <a:latin typeface="Aptos"/>
              </a:rPr>
              <a:t>18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8EE2B-6FF3-FFFC-007A-7C79758602EF}"/>
              </a:ext>
            </a:extLst>
          </p:cNvPr>
          <p:cNvSpPr txBox="1"/>
          <p:nvPr/>
        </p:nvSpPr>
        <p:spPr>
          <a:xfrm>
            <a:off x="258669" y="1121710"/>
            <a:ext cx="11674476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3A41"/>
                </a:solidFill>
                <a:latin typeface="Aptos Light"/>
                <a:cs typeface="Times New Roman"/>
              </a:rPr>
              <a:t>Strickland</a:t>
            </a:r>
            <a:r>
              <a:rPr lang="en-US" sz="1600">
                <a:solidFill>
                  <a:srgbClr val="003A41"/>
                </a:solidFill>
                <a:ea typeface="+mn-lt"/>
                <a:cs typeface="+mn-lt"/>
              </a:rPr>
              <a:t>, D. (2024, December 20). </a:t>
            </a:r>
            <a:r>
              <a:rPr lang="en-US" sz="1600" i="1">
                <a:solidFill>
                  <a:srgbClr val="003A41"/>
                </a:solidFill>
                <a:ea typeface="+mn-lt"/>
                <a:cs typeface="+mn-lt"/>
              </a:rPr>
              <a:t>Sony Kadokawa acquisition is off, Sony buys 10% of company shares instead</a:t>
            </a:r>
            <a:r>
              <a:rPr lang="en-US" sz="1600">
                <a:solidFill>
                  <a:srgbClr val="003A41"/>
                </a:solidFill>
                <a:ea typeface="+mn-lt"/>
                <a:cs typeface="+mn-lt"/>
              </a:rPr>
              <a:t>. </a:t>
            </a:r>
            <a:r>
              <a:rPr lang="en-US" sz="1600" err="1">
                <a:solidFill>
                  <a:srgbClr val="003A41"/>
                </a:solidFill>
                <a:ea typeface="+mn-lt"/>
                <a:cs typeface="+mn-lt"/>
              </a:rPr>
              <a:t>TweakTown</a:t>
            </a:r>
            <a:r>
              <a:rPr lang="en-US" sz="1600">
                <a:solidFill>
                  <a:srgbClr val="003A41"/>
                </a:solidFill>
                <a:ea typeface="+mn-lt"/>
                <a:cs typeface="+mn-lt"/>
              </a:rPr>
              <a:t>. Retrieved August 25, 2025, from https://www.tweaktown.com/news/102244/sony-kadokawa-acquisition-is-off-buys-10-of-company-shares-instead/index.html</a:t>
            </a:r>
            <a:endParaRPr lang="en-US"/>
          </a:p>
          <a:p>
            <a:endParaRPr lang="en-US" altLang="en-US" sz="1600">
              <a:solidFill>
                <a:srgbClr val="003A41"/>
              </a:solidFill>
              <a:cs typeface="Times New Roman"/>
            </a:endParaRPr>
          </a:p>
          <a:p>
            <a:r>
              <a:rPr lang="en-US" altLang="en-US" sz="1600">
                <a:solidFill>
                  <a:srgbClr val="003A41"/>
                </a:solidFill>
                <a:cs typeface="Times New Roman"/>
              </a:rPr>
              <a:t>Wu, J., &amp; Wu, J. (2025, March 20). </a:t>
            </a:r>
            <a:r>
              <a:rPr lang="en-US" altLang="en-US" sz="1600" i="1">
                <a:solidFill>
                  <a:srgbClr val="003A41"/>
                </a:solidFill>
                <a:cs typeface="Times New Roman"/>
              </a:rPr>
              <a:t>Tencent’s evergreen games signal high player engagement but lack of new IPs</a:t>
            </a:r>
            <a:r>
              <a:rPr lang="en-US" altLang="en-US" sz="1600">
                <a:solidFill>
                  <a:srgbClr val="003A41"/>
                </a:solidFill>
                <a:cs typeface="Times New Roman"/>
              </a:rPr>
              <a:t>. </a:t>
            </a:r>
            <a:r>
              <a:rPr lang="en-US" altLang="en-US" sz="1600" err="1">
                <a:solidFill>
                  <a:srgbClr val="003A41"/>
                </a:solidFill>
                <a:cs typeface="Times New Roman"/>
              </a:rPr>
              <a:t>TechNode</a:t>
            </a:r>
            <a:r>
              <a:rPr lang="en-US" altLang="en-US" sz="1600">
                <a:solidFill>
                  <a:srgbClr val="003A41"/>
                </a:solidFill>
                <a:cs typeface="Times New Roman"/>
              </a:rPr>
              <a:t>. https://technode.com/2025/03/20/tencents-evergreen-games-signal-high-player-engagement-but-lack-of-new-ips/#:~:text=In%202024%2C%20Tencent's%20online%20gaming,two%20million%20daily%20active%20users</a:t>
            </a:r>
          </a:p>
          <a:p>
            <a:endParaRPr lang="en-US" sz="1600">
              <a:solidFill>
                <a:srgbClr val="003A41"/>
              </a:solidFill>
              <a:ea typeface="Roboto"/>
              <a:cs typeface="Times New Roman" panose="02020603050405020304" pitchFamily="18" charset="0"/>
            </a:endParaRPr>
          </a:p>
          <a:p>
            <a:r>
              <a:rPr lang="en-US" sz="1600" i="1">
                <a:solidFill>
                  <a:schemeClr val="accent1"/>
                </a:solidFill>
                <a:latin typeface="Aptos Light"/>
                <a:cs typeface="Times New Roman"/>
              </a:rPr>
              <a:t>Valve Revenue and Growth Statistics (2024) - </a:t>
            </a:r>
            <a:r>
              <a:rPr lang="en-US" sz="1600" i="1" err="1">
                <a:solidFill>
                  <a:schemeClr val="accent1"/>
                </a:solidFill>
                <a:latin typeface="Aptos Light"/>
                <a:cs typeface="Times New Roman"/>
              </a:rPr>
              <a:t>SignHouse</a:t>
            </a:r>
            <a:r>
              <a:rPr lang="en-US" sz="1600">
                <a:solidFill>
                  <a:schemeClr val="accent1"/>
                </a:solidFill>
                <a:latin typeface="Aptos Light"/>
                <a:cs typeface="Times New Roman"/>
              </a:rPr>
              <a:t>. (2024, August 1). </a:t>
            </a:r>
            <a:r>
              <a:rPr lang="en-US" sz="1600" err="1">
                <a:solidFill>
                  <a:schemeClr val="accent1"/>
                </a:solidFill>
                <a:latin typeface="Aptos Light"/>
                <a:cs typeface="Times New Roman"/>
              </a:rPr>
              <a:t>SignHouse</a:t>
            </a:r>
            <a:r>
              <a:rPr lang="en-US" sz="1600">
                <a:solidFill>
                  <a:schemeClr val="accent1"/>
                </a:solidFill>
                <a:latin typeface="Aptos Light"/>
                <a:cs typeface="Times New Roman"/>
              </a:rPr>
              <a:t>. https://usesignhouse.com/blog/valve-stats/</a:t>
            </a:r>
          </a:p>
        </p:txBody>
      </p:sp>
    </p:spTree>
    <p:extLst>
      <p:ext uri="{BB962C8B-B14F-4D97-AF65-F5344CB8AC3E}">
        <p14:creationId xmlns:p14="http://schemas.microsoft.com/office/powerpoint/2010/main" val="2721725017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D0BF7C4227FF47A397A074C756FBAF" ma:contentTypeVersion="6" ma:contentTypeDescription="Create a new document." ma:contentTypeScope="" ma:versionID="8f4c8bf456bca1bad3698d832e1f2570">
  <xsd:schema xmlns:xsd="http://www.w3.org/2001/XMLSchema" xmlns:xs="http://www.w3.org/2001/XMLSchema" xmlns:p="http://schemas.microsoft.com/office/2006/metadata/properties" xmlns:ns3="7c6ca334-40ed-4c90-9b14-7500429448fe" targetNamespace="http://schemas.microsoft.com/office/2006/metadata/properties" ma:root="true" ma:fieldsID="1c988dd37870fd977fb8bd7c938336fe" ns3:_="">
    <xsd:import namespace="7c6ca334-40ed-4c90-9b14-7500429448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6ca334-40ed-4c90-9b14-7500429448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c6ca334-40ed-4c90-9b14-7500429448fe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19E71F-E2AC-41B5-AAA1-6E553FCA1267}">
  <ds:schemaRefs>
    <ds:schemaRef ds:uri="7c6ca334-40ed-4c90-9b14-7500429448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7c6ca334-40ed-4c90-9b14-7500429448fe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1023</TotalTime>
  <Words>1205</Words>
  <Application>Microsoft Macintosh PowerPoint</Application>
  <PresentationFormat>Widescreen</PresentationFormat>
  <Paragraphs>218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Light</vt:lpstr>
      <vt:lpstr>Arial</vt:lpstr>
      <vt:lpstr>Roboto</vt:lpstr>
      <vt:lpstr>Times New Roman</vt:lpstr>
      <vt:lpstr>BoldUnderlinesKeynote</vt:lpstr>
      <vt:lpstr>Most promising Game publisher Acquisition Candidates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 shuang</dc:creator>
  <cp:lastModifiedBy>Andrii Deviatkin</cp:lastModifiedBy>
  <cp:revision>3</cp:revision>
  <dcterms:created xsi:type="dcterms:W3CDTF">2024-06-26T20:20:27Z</dcterms:created>
  <dcterms:modified xsi:type="dcterms:W3CDTF">2025-08-26T10:43:24Z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0x010100A1D0BF7C4227FF47A397A074C756FBAF</vt:lpwstr>
  </property>
  <property fmtid="{D5CDD505-2E9C-101B-9397-08002B2CF9AE}" pid="3" name="MediaServiceImageTags">
    <vt:lpwstr/>
  </property>
</Properties>
</file>